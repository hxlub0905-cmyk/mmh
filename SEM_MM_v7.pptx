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處理時間（分鐘）</c:v>
                </c:pt>
              </c:strCache>
            </c:strRef>
          </c:tx>
          <c:spPr>
            <a:solidFill>
              <a:srgbClr val="B84A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181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84a3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d8a5c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Python Loop</c:v>
                  </c:pt>
                  <c:pt idx="1">
                    <c:v>Numpy 向量化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25</c:v>
                </c:pt>
                <c:pt idx="1">
                  <c:v>4.5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181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5A4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de8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5A4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2419"/>
          </a:solidFill>
          <a:ln w="12700">
            <a:solidFill>
              <a:srgbClr val="2E241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60520"/>
            <a:ext cx="9144000" cy="982980"/>
          </a:xfrm>
          <a:prstGeom prst="rect">
            <a:avLst/>
          </a:prstGeom>
          <a:solidFill>
            <a:srgbClr val="2E2419"/>
          </a:solidFill>
          <a:ln w="12700">
            <a:solidFill>
              <a:srgbClr val="2E241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29F4B"/>
          </a:solidFill>
          <a:ln w="12700">
            <a:solidFill>
              <a:srgbClr val="F29F4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201168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29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一個不會寫程式的半導體製程工程師 × AI （Claude Code）× 11 天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56032" y="960120"/>
            <a:ext cx="8595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F29F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SEM MM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256032" y="242316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7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打造工業級 SEM 量測工具的實戰紀錄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56032" y="2999232"/>
            <a:ext cx="8631936" cy="0"/>
          </a:xfrm>
          <a:prstGeom prst="line">
            <a:avLst/>
          </a:prstGeom>
          <a:noFill/>
          <a:ln w="12700">
            <a:solidFill>
              <a:srgbClr val="5A48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" y="3127248"/>
            <a:ext cx="2029968" cy="914400"/>
          </a:xfrm>
          <a:prstGeom prst="rect">
            <a:avLst/>
          </a:prstGeom>
          <a:solidFill>
            <a:srgbClr val="3F3428"/>
          </a:solidFill>
          <a:ln w="19050">
            <a:solidFill>
              <a:srgbClr val="C97D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3127248"/>
            <a:ext cx="2029968" cy="54864"/>
          </a:xfrm>
          <a:prstGeom prst="rect">
            <a:avLst/>
          </a:prstGeom>
          <a:solidFill>
            <a:srgbClr val="C97D2A"/>
          </a:solidFill>
          <a:ln w="12700">
            <a:solidFill>
              <a:srgbClr val="C97D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320040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97D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9184" y="3438144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D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ED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Design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478024" y="3127248"/>
            <a:ext cx="2029968" cy="914400"/>
          </a:xfrm>
          <a:prstGeom prst="rect">
            <a:avLst/>
          </a:prstGeom>
          <a:solidFill>
            <a:srgbClr val="3F3428"/>
          </a:solidFill>
          <a:ln w="19050">
            <a:solidFill>
              <a:srgbClr val="2D6AA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78024" y="3127248"/>
            <a:ext cx="2029968" cy="54864"/>
          </a:xfrm>
          <a:prstGeom prst="rect">
            <a:avLst/>
          </a:prstGeom>
          <a:solidFill>
            <a:srgbClr val="2D6AA8"/>
          </a:solidFill>
          <a:ln w="12700">
            <a:solidFill>
              <a:srgbClr val="2D6A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9464" y="320040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6A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51176" y="3438144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D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ED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Separate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700016" y="3127248"/>
            <a:ext cx="2029968" cy="914400"/>
          </a:xfrm>
          <a:prstGeom prst="rect">
            <a:avLst/>
          </a:prstGeom>
          <a:solidFill>
            <a:srgbClr val="3F3428"/>
          </a:solidFill>
          <a:ln w="19050">
            <a:solidFill>
              <a:srgbClr val="3D8A5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0016" y="3127248"/>
            <a:ext cx="2029968" cy="54864"/>
          </a:xfrm>
          <a:prstGeom prst="rect">
            <a:avLst/>
          </a:prstGeom>
          <a:solidFill>
            <a:srgbClr val="3D8A5C"/>
          </a:solidFill>
          <a:ln w="12700">
            <a:solidFill>
              <a:srgbClr val="3D8A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91456" y="320040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D8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73168" y="3438144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D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ED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Calibrate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922008" y="3127248"/>
            <a:ext cx="2029968" cy="914400"/>
          </a:xfrm>
          <a:prstGeom prst="rect">
            <a:avLst/>
          </a:prstGeom>
          <a:solidFill>
            <a:srgbClr val="3F3428"/>
          </a:solidFill>
          <a:ln w="19050">
            <a:solidFill>
              <a:srgbClr val="8A3D7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922008" y="3127248"/>
            <a:ext cx="2029968" cy="54864"/>
          </a:xfrm>
          <a:prstGeom prst="rect">
            <a:avLst/>
          </a:prstGeom>
          <a:solidFill>
            <a:srgbClr val="8A3D7A"/>
          </a:solidFill>
          <a:ln w="12700">
            <a:solidFill>
              <a:srgbClr val="8A3D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13448" y="320040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A3D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95160" y="3438144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D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ED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Verify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256032" y="4251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天  ·  20 Sessions  ·  77+ Tests  ·  0 行自己寫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138160" y="42519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97D2A"/>
          </a:solidFill>
          <a:ln w="12700">
            <a:solidFill>
              <a:srgbClr val="C97D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91440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18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為什麼要做這個工具？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82880" y="438912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5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從一個工程師的日常痛點出發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82880" y="713232"/>
            <a:ext cx="8778240" cy="0"/>
          </a:xfrm>
          <a:prstGeom prst="line">
            <a:avLst/>
          </a:prstGeom>
          <a:noFill/>
          <a:ln w="19050">
            <a:solidFill>
              <a:srgbClr val="EDE8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804672"/>
            <a:ext cx="3794760" cy="274320"/>
          </a:xfrm>
          <a:prstGeom prst="rect">
            <a:avLst/>
          </a:prstGeom>
          <a:solidFill>
            <a:srgbClr val="FAE0DC"/>
          </a:solidFill>
          <a:ln w="12700">
            <a:solidFill>
              <a:srgbClr val="D0B0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80467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😤  舊的工作方式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166360" y="804672"/>
            <a:ext cx="3794760" cy="274320"/>
          </a:xfrm>
          <a:prstGeom prst="rect">
            <a:avLst/>
          </a:prstGeom>
          <a:solidFill>
            <a:srgbClr val="D0EAD9"/>
          </a:solidFill>
          <a:ln w="12700">
            <a:solidFill>
              <a:srgbClr val="A8D0B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66360" y="80467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8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SEM MM 工具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2880" y="1133856"/>
            <a:ext cx="3794760" cy="832104"/>
          </a:xfrm>
          <a:prstGeom prst="rect">
            <a:avLst/>
          </a:prstGeom>
          <a:solidFill>
            <a:srgbClr val="FAE0DC"/>
          </a:solidFill>
          <a:ln w="6350">
            <a:solidFill>
              <a:srgbClr val="E0C0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" y="1188720"/>
            <a:ext cx="35661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8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1000+ 張影像，每張手動開、手動記錄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8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一整天才能跑完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069080" y="1243584"/>
            <a:ext cx="10058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97D2A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166360" y="1133856"/>
            <a:ext cx="3794760" cy="832104"/>
          </a:xfrm>
          <a:prstGeom prst="rect">
            <a:avLst/>
          </a:prstGeom>
          <a:solidFill>
            <a:srgbClr val="D0EAD9"/>
          </a:solidFill>
          <a:ln w="6350">
            <a:solidFill>
              <a:srgbClr val="B8D8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85232" y="1188720"/>
            <a:ext cx="35661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D8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多核心平行批次處理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D8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1000+ 張縮短至數分鐘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82880" y="2057400"/>
            <a:ext cx="3794760" cy="832104"/>
          </a:xfrm>
          <a:prstGeom prst="rect">
            <a:avLst/>
          </a:prstGeom>
          <a:solidFill>
            <a:srgbClr val="FAE0DC"/>
          </a:solidFill>
          <a:ln w="6350">
            <a:solidFill>
              <a:srgbClr val="E0C0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" y="2112264"/>
            <a:ext cx="35661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8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手動管理結果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8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沒有統計、沒有視覺化、難以比較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069080" y="2167128"/>
            <a:ext cx="10058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97D2A"/>
                </a:solidFill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166360" y="2057400"/>
            <a:ext cx="3794760" cy="832104"/>
          </a:xfrm>
          <a:prstGeom prst="rect">
            <a:avLst/>
          </a:prstGeom>
          <a:solidFill>
            <a:srgbClr val="D0EAD9"/>
          </a:solidFill>
          <a:ln w="6350">
            <a:solidFill>
              <a:srgbClr val="B8D8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85232" y="2112264"/>
            <a:ext cx="35661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D8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/ Excel / HTML 自動輸出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D8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含統計頁、標注影像、歷史趨勢圖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82880" y="2980944"/>
            <a:ext cx="3794760" cy="832104"/>
          </a:xfrm>
          <a:prstGeom prst="rect">
            <a:avLst/>
          </a:prstGeom>
          <a:solidFill>
            <a:srgbClr val="FAE0DC"/>
          </a:solidFill>
          <a:ln w="6350">
            <a:solidFill>
              <a:srgbClr val="E0C0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2608" y="3035808"/>
            <a:ext cx="35661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8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量完不知道量的對不對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8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無標注影像，無法視覺驗收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069080" y="3090672"/>
            <a:ext cx="10058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97D2A"/>
                </a:solidFill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5166360" y="2980944"/>
            <a:ext cx="3794760" cy="832104"/>
          </a:xfrm>
          <a:prstGeom prst="rect">
            <a:avLst/>
          </a:prstGeom>
          <a:solidFill>
            <a:srgbClr val="D0EAD9"/>
          </a:solidFill>
          <a:ln w="6350">
            <a:solidFill>
              <a:srgbClr val="B8D8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85232" y="3035808"/>
            <a:ext cx="35661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D8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Annotated 即時預覽 + KLARF Export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D8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量完馬上看標注線，可直送 Review SEM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82880" y="3904488"/>
            <a:ext cx="3794760" cy="832104"/>
          </a:xfrm>
          <a:prstGeom prst="rect">
            <a:avLst/>
          </a:prstGeom>
          <a:solidFill>
            <a:srgbClr val="FAE0DC"/>
          </a:solidFill>
          <a:ln w="6350">
            <a:solidFill>
              <a:srgbClr val="E0C0B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2608" y="3959352"/>
            <a:ext cx="35661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8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格式依賴 GDS Layout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8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換製程站點就要重新設定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069080" y="4014216"/>
            <a:ext cx="10058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97D2A"/>
                </a:solidFill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5166360" y="3904488"/>
            <a:ext cx="3794760" cy="832104"/>
          </a:xfrm>
          <a:prstGeom prst="rect">
            <a:avLst/>
          </a:prstGeom>
          <a:solidFill>
            <a:srgbClr val="D0EAD9"/>
          </a:solidFill>
          <a:ln w="6350">
            <a:solidFill>
              <a:srgbClr val="B8D8C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85232" y="3959352"/>
            <a:ext cx="35661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D8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驅動架構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D8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name 可設定，跨站點通用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078224" y="1133856"/>
            <a:ext cx="987552" cy="2980944"/>
          </a:xfrm>
          <a:prstGeom prst="rect">
            <a:avLst/>
          </a:prstGeom>
          <a:solidFill>
            <a:srgbClr val="EDE8E0"/>
          </a:solidFill>
          <a:ln w="12700">
            <a:solidFill>
              <a:srgbClr val="EDE8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796528" y="486918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97D2A"/>
          </a:solidFill>
          <a:ln w="12700">
            <a:solidFill>
              <a:srgbClr val="C97D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91440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18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四個面向的開發歷程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82880" y="438912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5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每個面向都遇到真實問題，才逼出真實解法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82880" y="713232"/>
            <a:ext cx="8778240" cy="0"/>
          </a:xfrm>
          <a:prstGeom prst="line">
            <a:avLst/>
          </a:prstGeom>
          <a:noFill/>
          <a:ln w="19050">
            <a:solidFill>
              <a:srgbClr val="EDE8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914400"/>
            <a:ext cx="427939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DE8C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914400"/>
            <a:ext cx="4279392" cy="50292"/>
          </a:xfrm>
          <a:prstGeom prst="rect">
            <a:avLst/>
          </a:prstGeom>
          <a:solidFill>
            <a:srgbClr val="C97D2A"/>
          </a:solidFill>
          <a:ln w="12700">
            <a:solidFill>
              <a:srgbClr val="C97D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" y="1033272"/>
            <a:ext cx="658368" cy="237744"/>
          </a:xfrm>
          <a:prstGeom prst="rect">
            <a:avLst/>
          </a:prstGeom>
          <a:solidFill>
            <a:srgbClr val="C97D2A"/>
          </a:solidFill>
          <a:ln w="12700">
            <a:solidFill>
              <a:srgbClr val="C97D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1033272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01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51560" y="1024128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7D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Describe &amp; Design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10896" y="138988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5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問題  如何讓 AI 理解需求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10896" y="164592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18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解法  13 輪問答建立完整規格，同一天 7 commits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10896" y="2029968"/>
            <a:ext cx="4023360" cy="585216"/>
          </a:xfrm>
          <a:prstGeom prst="rect">
            <a:avLst/>
          </a:prstGeom>
          <a:solidFill>
            <a:srgbClr val="FDE8C8"/>
          </a:solidFill>
          <a:ln w="12700">
            <a:solidFill>
              <a:srgbClr val="FDE8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029968"/>
            <a:ext cx="38770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C97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 不會寫程式，但我知道要量什麼 」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914400"/>
            <a:ext cx="427939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0" y="914400"/>
            <a:ext cx="4279392" cy="50292"/>
          </a:xfrm>
          <a:prstGeom prst="rect">
            <a:avLst/>
          </a:prstGeom>
          <a:solidFill>
            <a:srgbClr val="2D6AA8"/>
          </a:solidFill>
          <a:ln w="12700">
            <a:solidFill>
              <a:srgbClr val="2D6AA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81728" y="1033272"/>
            <a:ext cx="658368" cy="237744"/>
          </a:xfrm>
          <a:prstGeom prst="rect">
            <a:avLst/>
          </a:prstGeom>
          <a:solidFill>
            <a:srgbClr val="2D6AA8"/>
          </a:solidFill>
          <a:ln w="12700">
            <a:solidFill>
              <a:srgbClr val="2D6A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81728" y="1033272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02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440680" y="1024128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6A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Detect &amp; Separate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00016" y="138988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5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問題  沒有 GDS Layout，如何定 ROI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700016" y="164592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18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解法  Strip Mask + X-Projection 自動分群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00016" y="2029968"/>
            <a:ext cx="4023360" cy="585216"/>
          </a:xfrm>
          <a:prstGeom prst="rect">
            <a:avLst/>
          </a:prstGeom>
          <a:solidFill>
            <a:srgbClr val="D0E4F8"/>
          </a:solidFill>
          <a:ln w="12700">
            <a:solidFill>
              <a:srgbClr val="D0E4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73168" y="2029968"/>
            <a:ext cx="38770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2D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 用製程知識指導演算法設計 」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82880" y="2852928"/>
            <a:ext cx="427939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AD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82880" y="2852928"/>
            <a:ext cx="4279392" cy="50292"/>
          </a:xfrm>
          <a:prstGeom prst="rect">
            <a:avLst/>
          </a:prstGeom>
          <a:solidFill>
            <a:srgbClr val="3D8A5C"/>
          </a:solidFill>
          <a:ln w="12700">
            <a:solidFill>
              <a:srgbClr val="3D8A5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2608" y="2971800"/>
            <a:ext cx="658368" cy="237744"/>
          </a:xfrm>
          <a:prstGeom prst="rect">
            <a:avLst/>
          </a:prstGeom>
          <a:solidFill>
            <a:srgbClr val="3D8A5C"/>
          </a:solidFill>
          <a:ln w="12700">
            <a:solidFill>
              <a:srgbClr val="3D8A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2608" y="297180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03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051560" y="2962656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D8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Define &amp; Calibrate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10896" y="332841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5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問題  CD 邊緣要怎麼量才準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10896" y="358444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18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解法  BBox → Gradient → Threshold Crossing，三種全實作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10896" y="3968496"/>
            <a:ext cx="4023360" cy="585216"/>
          </a:xfrm>
          <a:prstGeom prst="rect">
            <a:avLst/>
          </a:prstGeom>
          <a:solidFill>
            <a:srgbClr val="D0EAD9"/>
          </a:solidFill>
          <a:ln w="12700">
            <a:solidFill>
              <a:srgbClr val="D0EAD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4048" y="3968496"/>
            <a:ext cx="38770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3D8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 理解原理，不只是用工具 」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0" y="2852928"/>
            <a:ext cx="427939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0D0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72000" y="2852928"/>
            <a:ext cx="4279392" cy="50292"/>
          </a:xfrm>
          <a:prstGeom prst="rect">
            <a:avLst/>
          </a:prstGeom>
          <a:solidFill>
            <a:srgbClr val="8A3D7A"/>
          </a:solidFill>
          <a:ln w="12700">
            <a:solidFill>
              <a:srgbClr val="8A3D7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81728" y="2971800"/>
            <a:ext cx="658368" cy="237744"/>
          </a:xfrm>
          <a:prstGeom prst="rect">
            <a:avLst/>
          </a:prstGeom>
          <a:solidFill>
            <a:srgbClr val="8A3D7A"/>
          </a:solidFill>
          <a:ln w="12700">
            <a:solidFill>
              <a:srgbClr val="8A3D7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81728" y="297180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04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440680" y="2962656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A3D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Deliver &amp; Verify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700016" y="332841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5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問題  量得準，但結果能用嗎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700016" y="358444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18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解法  KLARF pipeline + Y 軸翻轉修正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700016" y="3968496"/>
            <a:ext cx="4023360" cy="585216"/>
          </a:xfrm>
          <a:prstGeom prst="rect">
            <a:avLst/>
          </a:prstGeom>
          <a:solidFill>
            <a:srgbClr val="F0D0EC"/>
          </a:solidFill>
          <a:ln w="12700">
            <a:solidFill>
              <a:srgbClr val="F0D0E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73168" y="3968496"/>
            <a:ext cx="38770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A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 送進 Review SEM 真正驗證 」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796528" y="486918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97D2A"/>
          </a:solidFill>
          <a:ln w="12700">
            <a:solidFill>
              <a:srgbClr val="C97D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109728"/>
            <a:ext cx="694944" cy="256032"/>
          </a:xfrm>
          <a:prstGeom prst="rect">
            <a:avLst/>
          </a:prstGeom>
          <a:solidFill>
            <a:srgbClr val="C97D2A"/>
          </a:solidFill>
          <a:ln w="12700">
            <a:solidFill>
              <a:srgbClr val="C97D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109728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01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987552" y="914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C97D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Describe &amp; Design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82880" y="438912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5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如何讓 AI 理解半導體製程量測需求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82880" y="713232"/>
            <a:ext cx="8778240" cy="0"/>
          </a:xfrm>
          <a:prstGeom prst="line">
            <a:avLst/>
          </a:prstGeom>
          <a:noFill/>
          <a:ln w="19050">
            <a:solidFill>
              <a:srgbClr val="EDE8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" y="786384"/>
            <a:ext cx="8778240" cy="384048"/>
          </a:xfrm>
          <a:prstGeom prst="rect">
            <a:avLst/>
          </a:prstGeom>
          <a:solidFill>
            <a:srgbClr val="FEF6EA"/>
          </a:solidFill>
          <a:ln w="12700">
            <a:solidFill>
              <a:srgbClr val="FEF6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786384"/>
            <a:ext cx="8558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C97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 我不知道怎麼寫程式，但我知道我要量什麼。」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82880" y="1280160"/>
            <a:ext cx="4069080" cy="329184"/>
          </a:xfrm>
          <a:prstGeom prst="rect">
            <a:avLst/>
          </a:prstGeom>
          <a:solidFill>
            <a:srgbClr val="FDE8C8"/>
          </a:solidFill>
          <a:ln w="6350">
            <a:solidFill>
              <a:srgbClr val="E8D0B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280160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97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你要量測哪一層結構？量什麼 CD？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84048" y="1645920"/>
            <a:ext cx="3867912" cy="320040"/>
          </a:xfrm>
          <a:prstGeom prst="rect">
            <a:avLst/>
          </a:prstGeom>
          <a:solidFill>
            <a:srgbClr val="EDE8E0"/>
          </a:solidFill>
          <a:ln w="12700">
            <a:solidFill>
              <a:srgbClr val="EDE8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164592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👷  MG 層，量 CMG Y-CD：上下 MG 之間的垂直距離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82880" y="2075688"/>
            <a:ext cx="4069080" cy="329184"/>
          </a:xfrm>
          <a:prstGeom prst="rect">
            <a:avLst/>
          </a:prstGeom>
          <a:solidFill>
            <a:srgbClr val="FDE8C8"/>
          </a:solidFill>
          <a:ln w="6350">
            <a:solidFill>
              <a:srgbClr val="E8D0B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075688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97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每張影像有幾個 cut？幾根 MG column？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84048" y="2441448"/>
            <a:ext cx="3867912" cy="320040"/>
          </a:xfrm>
          <a:prstGeom prst="rect">
            <a:avLst/>
          </a:prstGeom>
          <a:solidFill>
            <a:srgbClr val="EDE8E0"/>
          </a:solidFill>
          <a:ln w="12700">
            <a:solidFill>
              <a:srgbClr val="EDE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244144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👷  多個 cut，每個 cut 多根 column，每一對都要量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82880" y="2871216"/>
            <a:ext cx="4069080" cy="329184"/>
          </a:xfrm>
          <a:prstGeom prst="rect">
            <a:avLst/>
          </a:prstGeom>
          <a:solidFill>
            <a:srgbClr val="FDE8C8"/>
          </a:solidFill>
          <a:ln w="6350">
            <a:solidFill>
              <a:srgbClr val="E8D0B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871216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97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批次規模？需要平行運算嗎？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84048" y="3236976"/>
            <a:ext cx="3867912" cy="320040"/>
          </a:xfrm>
          <a:prstGeom prst="rect">
            <a:avLst/>
          </a:prstGeom>
          <a:solidFill>
            <a:srgbClr val="EDE8E0"/>
          </a:solidFill>
          <a:ln w="12700">
            <a:solidFill>
              <a:srgbClr val="EDE8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3236976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👷  1000+ 張，多核心平行（ProcessPoolExecutor）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82880" y="3666744"/>
            <a:ext cx="4069080" cy="329184"/>
          </a:xfrm>
          <a:prstGeom prst="rect">
            <a:avLst/>
          </a:prstGeom>
          <a:solidFill>
            <a:srgbClr val="FDE8C8"/>
          </a:solidFill>
          <a:ln w="6350">
            <a:solidFill>
              <a:srgbClr val="E8D0B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666744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97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輸出格式？要視覺化嗎？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84048" y="4032504"/>
            <a:ext cx="3867912" cy="320040"/>
          </a:xfrm>
          <a:prstGeom prst="rect">
            <a:avLst/>
          </a:prstGeom>
          <a:solidFill>
            <a:srgbClr val="EDE8E0"/>
          </a:solidFill>
          <a:ln w="12700">
            <a:solidFill>
              <a:srgbClr val="EDE8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4032504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👷  CSV / Excel / HTML 報告 / 標注影像 PNG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0" y="1261872"/>
            <a:ext cx="43434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DE8C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0" y="1261872"/>
            <a:ext cx="4343400" cy="50292"/>
          </a:xfrm>
          <a:prstGeom prst="rect">
            <a:avLst/>
          </a:prstGeom>
          <a:solidFill>
            <a:srgbClr val="C97D2A"/>
          </a:solidFill>
          <a:ln w="12700">
            <a:solidFill>
              <a:srgbClr val="C97D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13716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97D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核心成果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709160" y="1773936"/>
            <a:ext cx="4023360" cy="914400"/>
          </a:xfrm>
          <a:prstGeom prst="rect">
            <a:avLst/>
          </a:prstGeom>
          <a:solidFill>
            <a:srgbClr val="FDE8C8"/>
          </a:solidFill>
          <a:ln w="12700">
            <a:solidFill>
              <a:srgbClr val="FDE8C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1828800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C97D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</a:t>
            </a:r>
            <a:endParaRPr lang="en-US" sz="3800" dirty="0"/>
          </a:p>
        </p:txBody>
      </p:sp>
      <p:sp>
        <p:nvSpPr>
          <p:cNvPr id="31" name="Text 29"/>
          <p:cNvSpPr/>
          <p:nvPr/>
        </p:nvSpPr>
        <p:spPr>
          <a:xfrm>
            <a:off x="5806440" y="190195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18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輪問答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800600" y="235915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5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逐步建立完整技術規格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09160" y="2779776"/>
            <a:ext cx="4023360" cy="914400"/>
          </a:xfrm>
          <a:prstGeom prst="rect">
            <a:avLst/>
          </a:prstGeom>
          <a:solidFill>
            <a:srgbClr val="FDE8C8"/>
          </a:solidFill>
          <a:ln w="12700">
            <a:solidFill>
              <a:srgbClr val="FDE8C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2834640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C97D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3800" dirty="0"/>
          </a:p>
        </p:txBody>
      </p:sp>
      <p:sp>
        <p:nvSpPr>
          <p:cNvPr id="35" name="Text 33"/>
          <p:cNvSpPr/>
          <p:nvPr/>
        </p:nvSpPr>
        <p:spPr>
          <a:xfrm>
            <a:off x="5806440" y="290779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18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同一天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4800600" y="336499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5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計劃核准 → 當天開始實作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709160" y="3785616"/>
            <a:ext cx="4023360" cy="914400"/>
          </a:xfrm>
          <a:prstGeom prst="rect">
            <a:avLst/>
          </a:prstGeom>
          <a:solidFill>
            <a:srgbClr val="FDE8C8"/>
          </a:solidFill>
          <a:ln w="12700">
            <a:solidFill>
              <a:srgbClr val="FDE8C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0600" y="3840480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97D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Recipe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6903720" y="39136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18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驅動架構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4800600" y="437083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5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可複用設定，跨站點通用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8796528" y="486918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2D6AA8"/>
          </a:solidFill>
          <a:ln w="12700">
            <a:solidFill>
              <a:srgbClr val="2D6A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109728"/>
            <a:ext cx="694944" cy="256032"/>
          </a:xfrm>
          <a:prstGeom prst="rect">
            <a:avLst/>
          </a:prstGeom>
          <a:solidFill>
            <a:srgbClr val="2D6AA8"/>
          </a:solidFill>
          <a:ln w="12700">
            <a:solidFill>
              <a:srgbClr val="2D6A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109728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02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987552" y="914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D6A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Detect &amp; Separate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82880" y="438912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5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沒有 GDS Layout，如何自動定位 ROI？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82880" y="713232"/>
            <a:ext cx="8778240" cy="0"/>
          </a:xfrm>
          <a:prstGeom prst="line">
            <a:avLst/>
          </a:prstGeom>
          <a:noFill/>
          <a:ln w="19050">
            <a:solidFill>
              <a:srgbClr val="EDE8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" y="786384"/>
            <a:ext cx="8778240" cy="365760"/>
          </a:xfrm>
          <a:prstGeom prst="rect">
            <a:avLst/>
          </a:prstGeom>
          <a:solidFill>
            <a:srgbClr val="D0E4F8"/>
          </a:solidFill>
          <a:ln w="12700">
            <a:solidFill>
              <a:srgbClr val="D0E4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786384"/>
            <a:ext cx="8558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2D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GLV 分群最直覺，但 MG 跟 PEPI 亮度幾乎相同 — Mask 全部連在一起，Y-gap 消失，無法量測 CMG Y-CD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82880" y="103327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5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—  GLV Mask（未處理）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82880" y="1261872"/>
            <a:ext cx="4023360" cy="3520440"/>
          </a:xfrm>
          <a:prstGeom prst="rect">
            <a:avLst/>
          </a:prstGeom>
          <a:solidFill>
            <a:srgbClr val="18182E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536192"/>
            <a:ext cx="365760" cy="2971800"/>
          </a:xfrm>
          <a:prstGeom prst="rect">
            <a:avLst/>
          </a:prstGeom>
          <a:solidFill>
            <a:srgbClr val="404060">
              <a:alpha val="80000"/>
            </a:srgbClr>
          </a:solidFill>
          <a:ln w="12700">
            <a:solidFill>
              <a:srgbClr val="404060">
                <a:alpha val="8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7280" y="1536192"/>
            <a:ext cx="365760" cy="2971800"/>
          </a:xfrm>
          <a:prstGeom prst="rect">
            <a:avLst/>
          </a:prstGeom>
          <a:solidFill>
            <a:srgbClr val="404060">
              <a:alpha val="80000"/>
            </a:srgbClr>
          </a:solidFill>
          <a:ln w="12700">
            <a:solidFill>
              <a:srgbClr val="404060">
                <a:alpha val="8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28800" y="1536192"/>
            <a:ext cx="365760" cy="2971800"/>
          </a:xfrm>
          <a:prstGeom prst="rect">
            <a:avLst/>
          </a:prstGeom>
          <a:solidFill>
            <a:srgbClr val="404060">
              <a:alpha val="80000"/>
            </a:srgbClr>
          </a:solidFill>
          <a:ln w="12700">
            <a:solidFill>
              <a:srgbClr val="404060">
                <a:alpha val="8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60320" y="1536192"/>
            <a:ext cx="365760" cy="2971800"/>
          </a:xfrm>
          <a:prstGeom prst="rect">
            <a:avLst/>
          </a:prstGeom>
          <a:solidFill>
            <a:srgbClr val="404060">
              <a:alpha val="80000"/>
            </a:srgbClr>
          </a:solidFill>
          <a:ln w="12700">
            <a:solidFill>
              <a:srgbClr val="404060">
                <a:alpha val="8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1536192"/>
            <a:ext cx="365760" cy="2971800"/>
          </a:xfrm>
          <a:prstGeom prst="rect">
            <a:avLst/>
          </a:prstGeom>
          <a:solidFill>
            <a:srgbClr val="404060">
              <a:alpha val="80000"/>
            </a:srgbClr>
          </a:solidFill>
          <a:ln w="12700">
            <a:solidFill>
              <a:srgbClr val="404060">
                <a:alpha val="8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2608" y="1627632"/>
            <a:ext cx="3803904" cy="2393899"/>
          </a:xfrm>
          <a:prstGeom prst="rect">
            <a:avLst/>
          </a:prstGeom>
          <a:solidFill>
            <a:srgbClr val="267A26">
              <a:alpha val="85000"/>
            </a:srgbClr>
          </a:solidFill>
          <a:ln w="19050">
            <a:solidFill>
              <a:srgbClr val="38B0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" y="2176272"/>
            <a:ext cx="3803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0FF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 + PEPI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90FF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合為一大 Blob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92608" y="3796589"/>
            <a:ext cx="3803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CC88"/>
                </a:solidFill>
              </a:rPr>
              <a:t>PEPI（GLV ≈ MG 亮度）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4215384"/>
            <a:ext cx="3840480" cy="475488"/>
          </a:xfrm>
          <a:prstGeom prst="rect">
            <a:avLst/>
          </a:prstGeom>
          <a:solidFill>
            <a:srgbClr val="FAE0DC"/>
          </a:solidFill>
          <a:ln w="12700">
            <a:solidFill>
              <a:srgbClr val="B84A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4215384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Y-gap 消失 → 無法量 CMG Y-CD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251960" y="2468880"/>
            <a:ext cx="594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97D2A"/>
                </a:solidFill>
              </a:rPr>
              <a:t>→</a:t>
            </a:r>
            <a:endParaRPr lang="en-US" sz="2800" dirty="0"/>
          </a:p>
        </p:txBody>
      </p:sp>
      <p:sp>
        <p:nvSpPr>
          <p:cNvPr id="23" name="Shape 21"/>
          <p:cNvSpPr/>
          <p:nvPr/>
        </p:nvSpPr>
        <p:spPr>
          <a:xfrm>
            <a:off x="4251960" y="3200400"/>
            <a:ext cx="594360" cy="457200"/>
          </a:xfrm>
          <a:prstGeom prst="rect">
            <a:avLst/>
          </a:prstGeom>
          <a:solidFill>
            <a:srgbClr val="FEF6EA"/>
          </a:solidFill>
          <a:ln w="12700">
            <a:solidFill>
              <a:srgbClr val="FDE8C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51960" y="320040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97D2A"/>
                </a:solidFill>
              </a:rPr>
              <a:t>Strip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97D2A"/>
                </a:solidFill>
              </a:rPr>
              <a:t>Mask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892040" y="1033272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5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 —  Strip Mask + X-Projection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92040" y="1261872"/>
            <a:ext cx="4069080" cy="3520440"/>
          </a:xfrm>
          <a:prstGeom prst="rect">
            <a:avLst/>
          </a:prstGeom>
          <a:solidFill>
            <a:srgbClr val="181E2E"/>
          </a:solidFill>
          <a:ln w="12700">
            <a:solidFill>
              <a:srgbClr val="2A3A4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74920" y="1444752"/>
            <a:ext cx="333299" cy="2640330"/>
          </a:xfrm>
          <a:prstGeom prst="rect">
            <a:avLst/>
          </a:prstGeom>
          <a:solidFill>
            <a:srgbClr val="C0C0D0"/>
          </a:solidFill>
          <a:ln w="6350">
            <a:solidFill>
              <a:srgbClr val="D0D0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58245" y="2517343"/>
            <a:ext cx="155448" cy="155448"/>
          </a:xfrm>
          <a:prstGeom prst="ellipse">
            <a:avLst/>
          </a:prstGeom>
          <a:solidFill>
            <a:srgbClr val="4488CC"/>
          </a:solidFill>
          <a:ln w="12700">
            <a:solidFill>
              <a:srgbClr val="6699D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815584" y="1444752"/>
            <a:ext cx="333299" cy="2640330"/>
          </a:xfrm>
          <a:prstGeom prst="rect">
            <a:avLst/>
          </a:prstGeom>
          <a:solidFill>
            <a:srgbClr val="C0C0D0"/>
          </a:solidFill>
          <a:ln w="6350">
            <a:solidFill>
              <a:srgbClr val="D0D0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8909" y="2517343"/>
            <a:ext cx="155448" cy="155448"/>
          </a:xfrm>
          <a:prstGeom prst="ellipse">
            <a:avLst/>
          </a:prstGeom>
          <a:solidFill>
            <a:srgbClr val="4488CC"/>
          </a:solidFill>
          <a:ln w="12700">
            <a:solidFill>
              <a:srgbClr val="6699D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56248" y="1444752"/>
            <a:ext cx="333299" cy="2640330"/>
          </a:xfrm>
          <a:prstGeom prst="rect">
            <a:avLst/>
          </a:prstGeom>
          <a:solidFill>
            <a:srgbClr val="C0C0D0"/>
          </a:solidFill>
          <a:ln w="6350">
            <a:solidFill>
              <a:srgbClr val="D0D0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639573" y="2517343"/>
            <a:ext cx="155448" cy="155448"/>
          </a:xfrm>
          <a:prstGeom prst="ellipse">
            <a:avLst/>
          </a:prstGeom>
          <a:solidFill>
            <a:srgbClr val="4488CC"/>
          </a:solidFill>
          <a:ln w="12700">
            <a:solidFill>
              <a:srgbClr val="6699D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296912" y="1444752"/>
            <a:ext cx="333299" cy="2640330"/>
          </a:xfrm>
          <a:prstGeom prst="rect">
            <a:avLst/>
          </a:prstGeom>
          <a:solidFill>
            <a:srgbClr val="C0C0D0"/>
          </a:solidFill>
          <a:ln w="6350">
            <a:solidFill>
              <a:srgbClr val="D0D0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80237" y="2517343"/>
            <a:ext cx="155448" cy="155448"/>
          </a:xfrm>
          <a:prstGeom prst="ellipse">
            <a:avLst/>
          </a:prstGeom>
          <a:solidFill>
            <a:srgbClr val="4488CC"/>
          </a:solidFill>
          <a:ln w="12700">
            <a:solidFill>
              <a:srgbClr val="6699D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037576" y="1444752"/>
            <a:ext cx="333299" cy="2640330"/>
          </a:xfrm>
          <a:prstGeom prst="rect">
            <a:avLst/>
          </a:prstGeom>
          <a:solidFill>
            <a:srgbClr val="C0C0D0"/>
          </a:solidFill>
          <a:ln w="6350">
            <a:solidFill>
              <a:srgbClr val="D0D0E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120901" y="2517343"/>
            <a:ext cx="155448" cy="155448"/>
          </a:xfrm>
          <a:prstGeom prst="ellipse">
            <a:avLst/>
          </a:prstGeom>
          <a:solidFill>
            <a:srgbClr val="4488CC"/>
          </a:solidFill>
          <a:ln w="12700">
            <a:solidFill>
              <a:srgbClr val="6699D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11901" y="1444752"/>
            <a:ext cx="0" cy="2640330"/>
          </a:xfrm>
          <a:prstGeom prst="line">
            <a:avLst/>
          </a:prstGeom>
          <a:noFill/>
          <a:ln w="25400">
            <a:solidFill>
              <a:srgbClr val="F29F4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52565" y="1444752"/>
            <a:ext cx="0" cy="2640330"/>
          </a:xfrm>
          <a:prstGeom prst="line">
            <a:avLst/>
          </a:prstGeom>
          <a:noFill/>
          <a:ln w="25400">
            <a:solidFill>
              <a:srgbClr val="F29F4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093229" y="1444752"/>
            <a:ext cx="0" cy="2640330"/>
          </a:xfrm>
          <a:prstGeom prst="line">
            <a:avLst/>
          </a:prstGeom>
          <a:noFill/>
          <a:ln w="25400">
            <a:solidFill>
              <a:srgbClr val="F29F4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833893" y="1444752"/>
            <a:ext cx="0" cy="2640330"/>
          </a:xfrm>
          <a:prstGeom prst="line">
            <a:avLst/>
          </a:prstGeom>
          <a:noFill/>
          <a:ln w="25400">
            <a:solidFill>
              <a:srgbClr val="F29F4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983480" y="2494026"/>
            <a:ext cx="3886200" cy="704088"/>
          </a:xfrm>
          <a:prstGeom prst="rect">
            <a:avLst/>
          </a:prstGeom>
          <a:solidFill>
            <a:srgbClr val="CC0000">
              <a:alpha val="20000"/>
            </a:srgbClr>
          </a:solidFill>
          <a:ln w="19050">
            <a:solidFill>
              <a:srgbClr val="FF606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83480" y="2740457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9999"/>
                </a:solidFill>
              </a:rPr>
              <a:t>← Y-gap (CMG Y-CD) →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983480" y="2237994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FF"/>
                </a:solidFill>
              </a:rPr>
              <a:t>▲ X-Projection 峰值 = MG 欄位中心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983480" y="4215384"/>
            <a:ext cx="3886200" cy="475488"/>
          </a:xfrm>
          <a:prstGeom prst="rect">
            <a:avLst/>
          </a:prstGeom>
          <a:solidFill>
            <a:srgbClr val="D0EAD9"/>
          </a:solidFill>
          <a:ln w="12700">
            <a:solidFill>
              <a:srgbClr val="3D8A5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9200" y="4215384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8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MG 欄位自動分離，Y-gap 清晰可量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796528" y="486918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3D8A5C"/>
          </a:solidFill>
          <a:ln w="12700">
            <a:solidFill>
              <a:srgbClr val="3D8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109728"/>
            <a:ext cx="694944" cy="256032"/>
          </a:xfrm>
          <a:prstGeom prst="rect">
            <a:avLst/>
          </a:prstGeom>
          <a:solidFill>
            <a:srgbClr val="3D8A5C"/>
          </a:solidFill>
          <a:ln w="12700">
            <a:solidFill>
              <a:srgbClr val="3D8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109728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03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987552" y="914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D8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Define &amp; Calibrate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82880" y="438912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5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量法：邊緣怎麼定義，決定量測精度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82880" y="713232"/>
            <a:ext cx="8778240" cy="0"/>
          </a:xfrm>
          <a:prstGeom prst="line">
            <a:avLst/>
          </a:prstGeom>
          <a:noFill/>
          <a:ln w="19050">
            <a:solidFill>
              <a:srgbClr val="EDE8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78638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8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我：直接用 BBox？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154680" y="78638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D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AI 提供 Gradient 法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89320" y="78638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D8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Expert：業界標準 Threshold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82880" y="1069848"/>
            <a:ext cx="2852928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FAE0D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82880" y="1069848"/>
            <a:ext cx="2852928" cy="50292"/>
          </a:xfrm>
          <a:prstGeom prst="rect">
            <a:avLst/>
          </a:prstGeom>
          <a:solidFill>
            <a:srgbClr val="B84A3A"/>
          </a:solidFill>
          <a:ln w="12700">
            <a:solidFill>
              <a:srgbClr val="B84A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" y="1161288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84A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BBox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92608" y="1472184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5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我的初始想法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92608" y="1764792"/>
            <a:ext cx="2633472" cy="1901952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8328" y="1764792"/>
            <a:ext cx="161392" cy="90569"/>
          </a:xfrm>
          <a:prstGeom prst="rect">
            <a:avLst/>
          </a:prstGeom>
          <a:solidFill>
            <a:srgbClr val="707088">
              <a:alpha val="80000"/>
            </a:srgbClr>
          </a:solidFill>
          <a:ln w="12700">
            <a:solidFill>
              <a:srgbClr val="707088">
                <a:alpha val="8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8328" y="1855361"/>
            <a:ext cx="286207" cy="90569"/>
          </a:xfrm>
          <a:prstGeom prst="rect">
            <a:avLst/>
          </a:prstGeom>
          <a:solidFill>
            <a:srgbClr val="707088">
              <a:alpha val="80000"/>
            </a:srgbClr>
          </a:solidFill>
          <a:ln w="12700">
            <a:solidFill>
              <a:srgbClr val="707088">
                <a:alpha val="8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8328" y="1945930"/>
            <a:ext cx="411023" cy="90569"/>
          </a:xfrm>
          <a:prstGeom prst="rect">
            <a:avLst/>
          </a:prstGeom>
          <a:solidFill>
            <a:srgbClr val="707088">
              <a:alpha val="80000"/>
            </a:srgbClr>
          </a:solidFill>
          <a:ln w="12700">
            <a:solidFill>
              <a:srgbClr val="707088">
                <a:alpha val="8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8328" y="2036499"/>
            <a:ext cx="585765" cy="90569"/>
          </a:xfrm>
          <a:prstGeom prst="rect">
            <a:avLst/>
          </a:prstGeom>
          <a:solidFill>
            <a:srgbClr val="707088">
              <a:alpha val="80000"/>
            </a:srgbClr>
          </a:solidFill>
          <a:ln w="12700">
            <a:solidFill>
              <a:srgbClr val="707088">
                <a:alpha val="8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8328" y="2127069"/>
            <a:ext cx="835396" cy="90569"/>
          </a:xfrm>
          <a:prstGeom prst="rect">
            <a:avLst/>
          </a:prstGeom>
          <a:solidFill>
            <a:srgbClr val="707088">
              <a:alpha val="80000"/>
            </a:srgbClr>
          </a:solidFill>
          <a:ln w="12700">
            <a:solidFill>
              <a:srgbClr val="707088">
                <a:alpha val="8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8328" y="2217638"/>
            <a:ext cx="1159916" cy="90569"/>
          </a:xfrm>
          <a:prstGeom prst="rect">
            <a:avLst/>
          </a:prstGeom>
          <a:solidFill>
            <a:srgbClr val="707088">
              <a:alpha val="80000"/>
            </a:srgbClr>
          </a:solidFill>
          <a:ln w="12700">
            <a:solidFill>
              <a:srgbClr val="707088">
                <a:alpha val="8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8328" y="2308207"/>
            <a:ext cx="1409548" cy="90569"/>
          </a:xfrm>
          <a:prstGeom prst="rect">
            <a:avLst/>
          </a:prstGeom>
          <a:solidFill>
            <a:srgbClr val="707088">
              <a:alpha val="80000"/>
            </a:srgbClr>
          </a:solidFill>
          <a:ln w="12700">
            <a:solidFill>
              <a:srgbClr val="707088">
                <a:alpha val="8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8328" y="2398776"/>
            <a:ext cx="1783994" cy="90569"/>
          </a:xfrm>
          <a:prstGeom prst="rect">
            <a:avLst/>
          </a:prstGeom>
          <a:solidFill>
            <a:srgbClr val="707088">
              <a:alpha val="80000"/>
            </a:srgbClr>
          </a:solidFill>
          <a:ln w="12700">
            <a:solidFill>
              <a:srgbClr val="707088">
                <a:alpha val="8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8328" y="2489345"/>
            <a:ext cx="2158441" cy="90569"/>
          </a:xfrm>
          <a:prstGeom prst="rect">
            <a:avLst/>
          </a:prstGeom>
          <a:solidFill>
            <a:srgbClr val="707088">
              <a:alpha val="80000"/>
            </a:srgbClr>
          </a:solidFill>
          <a:ln w="12700">
            <a:solidFill>
              <a:srgbClr val="707088">
                <a:alpha val="8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8328" y="2579914"/>
            <a:ext cx="2408072" cy="90569"/>
          </a:xfrm>
          <a:prstGeom prst="rect">
            <a:avLst/>
          </a:prstGeom>
          <a:solidFill>
            <a:srgbClr val="707088">
              <a:alpha val="80000"/>
            </a:srgbClr>
          </a:solidFill>
          <a:ln w="12700">
            <a:solidFill>
              <a:srgbClr val="707088">
                <a:alpha val="8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8328" y="2670483"/>
            <a:ext cx="2532888" cy="90569"/>
          </a:xfrm>
          <a:prstGeom prst="rect">
            <a:avLst/>
          </a:prstGeom>
          <a:solidFill>
            <a:srgbClr val="707088">
              <a:alpha val="80000"/>
            </a:srgbClr>
          </a:solidFill>
          <a:ln w="12700">
            <a:solidFill>
              <a:srgbClr val="707088">
                <a:alpha val="8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8328" y="2761053"/>
            <a:ext cx="2532888" cy="90569"/>
          </a:xfrm>
          <a:prstGeom prst="rect">
            <a:avLst/>
          </a:prstGeom>
          <a:solidFill>
            <a:srgbClr val="707088">
              <a:alpha val="80000"/>
            </a:srgbClr>
          </a:solidFill>
          <a:ln w="12700">
            <a:solidFill>
              <a:srgbClr val="707088">
                <a:alpha val="8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8328" y="2851622"/>
            <a:ext cx="2408072" cy="90569"/>
          </a:xfrm>
          <a:prstGeom prst="rect">
            <a:avLst/>
          </a:prstGeom>
          <a:solidFill>
            <a:srgbClr val="707088">
              <a:alpha val="80000"/>
            </a:srgbClr>
          </a:solidFill>
          <a:ln w="12700">
            <a:solidFill>
              <a:srgbClr val="707088">
                <a:alpha val="8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8328" y="2942191"/>
            <a:ext cx="2158441" cy="90569"/>
          </a:xfrm>
          <a:prstGeom prst="rect">
            <a:avLst/>
          </a:prstGeom>
          <a:solidFill>
            <a:srgbClr val="707088">
              <a:alpha val="80000"/>
            </a:srgbClr>
          </a:solidFill>
          <a:ln w="12700">
            <a:solidFill>
              <a:srgbClr val="707088">
                <a:alpha val="8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8328" y="3032760"/>
            <a:ext cx="1734068" cy="90569"/>
          </a:xfrm>
          <a:prstGeom prst="rect">
            <a:avLst/>
          </a:prstGeom>
          <a:solidFill>
            <a:srgbClr val="707088">
              <a:alpha val="80000"/>
            </a:srgbClr>
          </a:solidFill>
          <a:ln w="12700">
            <a:solidFill>
              <a:srgbClr val="707088">
                <a:alpha val="8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8328" y="3123329"/>
            <a:ext cx="1284732" cy="90569"/>
          </a:xfrm>
          <a:prstGeom prst="rect">
            <a:avLst/>
          </a:prstGeom>
          <a:solidFill>
            <a:srgbClr val="707088">
              <a:alpha val="80000"/>
            </a:srgbClr>
          </a:solidFill>
          <a:ln w="12700">
            <a:solidFill>
              <a:srgbClr val="707088">
                <a:alpha val="8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8328" y="3213898"/>
            <a:ext cx="910285" cy="90569"/>
          </a:xfrm>
          <a:prstGeom prst="rect">
            <a:avLst/>
          </a:prstGeom>
          <a:solidFill>
            <a:srgbClr val="707088">
              <a:alpha val="80000"/>
            </a:srgbClr>
          </a:solidFill>
          <a:ln w="12700">
            <a:solidFill>
              <a:srgbClr val="707088">
                <a:alpha val="8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8328" y="3304467"/>
            <a:ext cx="585765" cy="90569"/>
          </a:xfrm>
          <a:prstGeom prst="rect">
            <a:avLst/>
          </a:prstGeom>
          <a:solidFill>
            <a:srgbClr val="707088">
              <a:alpha val="80000"/>
            </a:srgbClr>
          </a:solidFill>
          <a:ln w="12700">
            <a:solidFill>
              <a:srgbClr val="707088">
                <a:alpha val="8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38328" y="3395037"/>
            <a:ext cx="386060" cy="90569"/>
          </a:xfrm>
          <a:prstGeom prst="rect">
            <a:avLst/>
          </a:prstGeom>
          <a:solidFill>
            <a:srgbClr val="707088">
              <a:alpha val="80000"/>
            </a:srgbClr>
          </a:solidFill>
          <a:ln w="12700">
            <a:solidFill>
              <a:srgbClr val="707088">
                <a:alpha val="8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8328" y="3485606"/>
            <a:ext cx="236281" cy="90569"/>
          </a:xfrm>
          <a:prstGeom prst="rect">
            <a:avLst/>
          </a:prstGeom>
          <a:solidFill>
            <a:srgbClr val="707088">
              <a:alpha val="80000"/>
            </a:srgbClr>
          </a:solidFill>
          <a:ln w="12700">
            <a:solidFill>
              <a:srgbClr val="707088">
                <a:alpha val="8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38328" y="3576175"/>
            <a:ext cx="161392" cy="90569"/>
          </a:xfrm>
          <a:prstGeom prst="rect">
            <a:avLst/>
          </a:prstGeom>
          <a:solidFill>
            <a:srgbClr val="707088">
              <a:alpha val="80000"/>
            </a:srgbClr>
          </a:solidFill>
          <a:ln w="12700">
            <a:solidFill>
              <a:srgbClr val="707088">
                <a:alpha val="8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92608" y="2221260"/>
            <a:ext cx="2633472" cy="0"/>
          </a:xfrm>
          <a:prstGeom prst="line">
            <a:avLst/>
          </a:prstGeom>
          <a:noFill/>
          <a:ln w="25400">
            <a:solidFill>
              <a:srgbClr val="B84A3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92608" y="3210276"/>
            <a:ext cx="2633472" cy="0"/>
          </a:xfrm>
          <a:prstGeom prst="line">
            <a:avLst/>
          </a:prstGeom>
          <a:noFill/>
          <a:ln w="25400">
            <a:solidFill>
              <a:srgbClr val="B84A3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468880" y="2031065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B84A3A"/>
                </a:solidFill>
              </a:rPr>
              <a:t>bbox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2468880" y="3229295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B84A3A"/>
                </a:solidFill>
              </a:rPr>
              <a:t>bbox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292608" y="3767328"/>
            <a:ext cx="2633472" cy="548640"/>
          </a:xfrm>
          <a:prstGeom prst="rect">
            <a:avLst/>
          </a:prstGeom>
          <a:solidFill>
            <a:srgbClr val="FAE0DC"/>
          </a:solidFill>
          <a:ln w="12700">
            <a:solidFill>
              <a:srgbClr val="FAE0D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92608" y="3785616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84A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 = 50.0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292608" y="4069080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整數精度 ±1 px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92608" y="4407408"/>
            <a:ext cx="2633472" cy="365760"/>
          </a:xfrm>
          <a:prstGeom prst="rect">
            <a:avLst/>
          </a:prstGeom>
          <a:solidFill>
            <a:srgbClr val="B84A3A"/>
          </a:solidFill>
          <a:ln w="12700">
            <a:solidFill>
              <a:srgbClr val="B84A3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92608" y="4407408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已實作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3099816" y="1069848"/>
            <a:ext cx="2852928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099816" y="1069848"/>
            <a:ext cx="2852928" cy="50292"/>
          </a:xfrm>
          <a:prstGeom prst="rect">
            <a:avLst/>
          </a:prstGeom>
          <a:solidFill>
            <a:srgbClr val="2D6AA8"/>
          </a:solidFill>
          <a:ln w="12700">
            <a:solidFill>
              <a:srgbClr val="2D6AA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09544" y="1161288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D6A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Gradient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3209544" y="1472184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5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提供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209544" y="1764792"/>
            <a:ext cx="2633472" cy="1901952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255264" y="1764792"/>
            <a:ext cx="161392" cy="90569"/>
          </a:xfrm>
          <a:prstGeom prst="rect">
            <a:avLst/>
          </a:prstGeom>
          <a:solidFill>
            <a:srgbClr val="707088">
              <a:alpha val="80000"/>
            </a:srgbClr>
          </a:solidFill>
          <a:ln w="12700">
            <a:solidFill>
              <a:srgbClr val="707088">
                <a:alpha val="8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255264" y="1855361"/>
            <a:ext cx="286207" cy="90569"/>
          </a:xfrm>
          <a:prstGeom prst="rect">
            <a:avLst/>
          </a:prstGeom>
          <a:solidFill>
            <a:srgbClr val="707088">
              <a:alpha val="80000"/>
            </a:srgbClr>
          </a:solidFill>
          <a:ln w="12700">
            <a:solidFill>
              <a:srgbClr val="707088">
                <a:alpha val="8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255264" y="1945930"/>
            <a:ext cx="411023" cy="90569"/>
          </a:xfrm>
          <a:prstGeom prst="rect">
            <a:avLst/>
          </a:prstGeom>
          <a:solidFill>
            <a:srgbClr val="707088">
              <a:alpha val="80000"/>
            </a:srgbClr>
          </a:solidFill>
          <a:ln w="12700">
            <a:solidFill>
              <a:srgbClr val="707088">
                <a:alpha val="8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255264" y="2036499"/>
            <a:ext cx="585765" cy="90569"/>
          </a:xfrm>
          <a:prstGeom prst="rect">
            <a:avLst/>
          </a:prstGeom>
          <a:solidFill>
            <a:srgbClr val="707088">
              <a:alpha val="80000"/>
            </a:srgbClr>
          </a:solidFill>
          <a:ln w="12700">
            <a:solidFill>
              <a:srgbClr val="707088">
                <a:alpha val="8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255264" y="2127069"/>
            <a:ext cx="835396" cy="90569"/>
          </a:xfrm>
          <a:prstGeom prst="rect">
            <a:avLst/>
          </a:prstGeom>
          <a:solidFill>
            <a:srgbClr val="707088">
              <a:alpha val="80000"/>
            </a:srgbClr>
          </a:solidFill>
          <a:ln w="12700">
            <a:solidFill>
              <a:srgbClr val="707088">
                <a:alpha val="80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255264" y="2217638"/>
            <a:ext cx="1159916" cy="90569"/>
          </a:xfrm>
          <a:prstGeom prst="rect">
            <a:avLst/>
          </a:prstGeom>
          <a:solidFill>
            <a:srgbClr val="707088">
              <a:alpha val="80000"/>
            </a:srgbClr>
          </a:solidFill>
          <a:ln w="12700">
            <a:solidFill>
              <a:srgbClr val="707088">
                <a:alpha val="80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255264" y="2308207"/>
            <a:ext cx="1409548" cy="90569"/>
          </a:xfrm>
          <a:prstGeom prst="rect">
            <a:avLst/>
          </a:prstGeom>
          <a:solidFill>
            <a:srgbClr val="707088">
              <a:alpha val="80000"/>
            </a:srgbClr>
          </a:solidFill>
          <a:ln w="12700">
            <a:solidFill>
              <a:srgbClr val="707088">
                <a:alpha val="80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255264" y="2398776"/>
            <a:ext cx="1783994" cy="90569"/>
          </a:xfrm>
          <a:prstGeom prst="rect">
            <a:avLst/>
          </a:prstGeom>
          <a:solidFill>
            <a:srgbClr val="707088">
              <a:alpha val="80000"/>
            </a:srgbClr>
          </a:solidFill>
          <a:ln w="12700">
            <a:solidFill>
              <a:srgbClr val="707088">
                <a:alpha val="80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255264" y="2489345"/>
            <a:ext cx="2158441" cy="90569"/>
          </a:xfrm>
          <a:prstGeom prst="rect">
            <a:avLst/>
          </a:prstGeom>
          <a:solidFill>
            <a:srgbClr val="707088">
              <a:alpha val="80000"/>
            </a:srgbClr>
          </a:solidFill>
          <a:ln w="12700">
            <a:solidFill>
              <a:srgbClr val="707088">
                <a:alpha val="80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255264" y="2579914"/>
            <a:ext cx="2408072" cy="90569"/>
          </a:xfrm>
          <a:prstGeom prst="rect">
            <a:avLst/>
          </a:prstGeom>
          <a:solidFill>
            <a:srgbClr val="707088">
              <a:alpha val="80000"/>
            </a:srgbClr>
          </a:solidFill>
          <a:ln w="12700">
            <a:solidFill>
              <a:srgbClr val="707088">
                <a:alpha val="80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255264" y="2670483"/>
            <a:ext cx="2532888" cy="90569"/>
          </a:xfrm>
          <a:prstGeom prst="rect">
            <a:avLst/>
          </a:prstGeom>
          <a:solidFill>
            <a:srgbClr val="707088">
              <a:alpha val="80000"/>
            </a:srgbClr>
          </a:solidFill>
          <a:ln w="12700">
            <a:solidFill>
              <a:srgbClr val="707088">
                <a:alpha val="80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255264" y="2761053"/>
            <a:ext cx="2532888" cy="90569"/>
          </a:xfrm>
          <a:prstGeom prst="rect">
            <a:avLst/>
          </a:prstGeom>
          <a:solidFill>
            <a:srgbClr val="707088">
              <a:alpha val="80000"/>
            </a:srgbClr>
          </a:solidFill>
          <a:ln w="12700">
            <a:solidFill>
              <a:srgbClr val="707088">
                <a:alpha val="80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255264" y="2851622"/>
            <a:ext cx="2408072" cy="90569"/>
          </a:xfrm>
          <a:prstGeom prst="rect">
            <a:avLst/>
          </a:prstGeom>
          <a:solidFill>
            <a:srgbClr val="707088">
              <a:alpha val="80000"/>
            </a:srgbClr>
          </a:solidFill>
          <a:ln w="12700">
            <a:solidFill>
              <a:srgbClr val="707088">
                <a:alpha val="80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255264" y="2942191"/>
            <a:ext cx="2158441" cy="90569"/>
          </a:xfrm>
          <a:prstGeom prst="rect">
            <a:avLst/>
          </a:prstGeom>
          <a:solidFill>
            <a:srgbClr val="707088">
              <a:alpha val="80000"/>
            </a:srgbClr>
          </a:solidFill>
          <a:ln w="12700">
            <a:solidFill>
              <a:srgbClr val="707088">
                <a:alpha val="80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255264" y="3032760"/>
            <a:ext cx="1734068" cy="90569"/>
          </a:xfrm>
          <a:prstGeom prst="rect">
            <a:avLst/>
          </a:prstGeom>
          <a:solidFill>
            <a:srgbClr val="707088">
              <a:alpha val="80000"/>
            </a:srgbClr>
          </a:solidFill>
          <a:ln w="12700">
            <a:solidFill>
              <a:srgbClr val="707088">
                <a:alpha val="80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255264" y="3123329"/>
            <a:ext cx="1284732" cy="90569"/>
          </a:xfrm>
          <a:prstGeom prst="rect">
            <a:avLst/>
          </a:prstGeom>
          <a:solidFill>
            <a:srgbClr val="707088">
              <a:alpha val="80000"/>
            </a:srgbClr>
          </a:solidFill>
          <a:ln w="12700">
            <a:solidFill>
              <a:srgbClr val="707088">
                <a:alpha val="80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255264" y="3213898"/>
            <a:ext cx="910285" cy="90569"/>
          </a:xfrm>
          <a:prstGeom prst="rect">
            <a:avLst/>
          </a:prstGeom>
          <a:solidFill>
            <a:srgbClr val="707088">
              <a:alpha val="80000"/>
            </a:srgbClr>
          </a:solidFill>
          <a:ln w="12700">
            <a:solidFill>
              <a:srgbClr val="707088">
                <a:alpha val="80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255264" y="3304467"/>
            <a:ext cx="585765" cy="90569"/>
          </a:xfrm>
          <a:prstGeom prst="rect">
            <a:avLst/>
          </a:prstGeom>
          <a:solidFill>
            <a:srgbClr val="707088">
              <a:alpha val="80000"/>
            </a:srgbClr>
          </a:solidFill>
          <a:ln w="12700">
            <a:solidFill>
              <a:srgbClr val="707088">
                <a:alpha val="80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255264" y="3395037"/>
            <a:ext cx="386060" cy="90569"/>
          </a:xfrm>
          <a:prstGeom prst="rect">
            <a:avLst/>
          </a:prstGeom>
          <a:solidFill>
            <a:srgbClr val="707088">
              <a:alpha val="80000"/>
            </a:srgbClr>
          </a:solidFill>
          <a:ln w="12700">
            <a:solidFill>
              <a:srgbClr val="707088">
                <a:alpha val="80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255264" y="3485606"/>
            <a:ext cx="236281" cy="90569"/>
          </a:xfrm>
          <a:prstGeom prst="rect">
            <a:avLst/>
          </a:prstGeom>
          <a:solidFill>
            <a:srgbClr val="707088">
              <a:alpha val="80000"/>
            </a:srgbClr>
          </a:solidFill>
          <a:ln w="12700">
            <a:solidFill>
              <a:srgbClr val="707088">
                <a:alpha val="80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255264" y="3576175"/>
            <a:ext cx="161392" cy="90569"/>
          </a:xfrm>
          <a:prstGeom prst="rect">
            <a:avLst/>
          </a:prstGeom>
          <a:solidFill>
            <a:srgbClr val="707088">
              <a:alpha val="80000"/>
            </a:srgbClr>
          </a:solidFill>
          <a:ln w="12700">
            <a:solidFill>
              <a:srgbClr val="707088">
                <a:alpha val="80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209544" y="2677729"/>
            <a:ext cx="2633472" cy="0"/>
          </a:xfrm>
          <a:prstGeom prst="line">
            <a:avLst/>
          </a:prstGeom>
          <a:noFill/>
          <a:ln w="19050">
            <a:solidFill>
              <a:srgbClr val="2D6AA8"/>
            </a:solidFill>
            <a:prstDash val="dash"/>
          </a:ln>
        </p:spPr>
      </p:sp>
      <p:sp>
        <p:nvSpPr>
          <p:cNvPr id="73" name="Shape 71"/>
          <p:cNvSpPr/>
          <p:nvPr/>
        </p:nvSpPr>
        <p:spPr>
          <a:xfrm>
            <a:off x="4921301" y="2595433"/>
            <a:ext cx="164592" cy="164592"/>
          </a:xfrm>
          <a:prstGeom prst="ellipse">
            <a:avLst/>
          </a:prstGeom>
          <a:solidFill>
            <a:srgbClr val="2D6AA8"/>
          </a:solidFill>
          <a:ln w="12700">
            <a:solidFill>
              <a:srgbClr val="2D6AA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340096" y="2476561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2D6AA8"/>
                </a:solidFill>
              </a:rPr>
              <a:t>gradient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2D6AA8"/>
                </a:solidFill>
              </a:rPr>
              <a:t>peak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3209544" y="3767328"/>
            <a:ext cx="2633472" cy="548640"/>
          </a:xfrm>
          <a:prstGeom prst="rect">
            <a:avLst/>
          </a:prstGeom>
          <a:solidFill>
            <a:srgbClr val="D0E4F8"/>
          </a:solidFill>
          <a:ln w="12700">
            <a:solidFill>
              <a:srgbClr val="D0E4F8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209544" y="3785616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6A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 = 48.3</a:t>
            </a:r>
            <a:endParaRPr lang="en-US" sz="2000" dirty="0"/>
          </a:p>
        </p:txBody>
      </p:sp>
      <p:sp>
        <p:nvSpPr>
          <p:cNvPr id="77" name="Text 75"/>
          <p:cNvSpPr/>
          <p:nvPr/>
        </p:nvSpPr>
        <p:spPr>
          <a:xfrm>
            <a:off x="3209544" y="4069080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6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次像素，梯度峰值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3209544" y="4407408"/>
            <a:ext cx="2633472" cy="365760"/>
          </a:xfrm>
          <a:prstGeom prst="rect">
            <a:avLst/>
          </a:prstGeom>
          <a:solidFill>
            <a:srgbClr val="2D6AA8"/>
          </a:solidFill>
          <a:ln w="12700">
            <a:solidFill>
              <a:srgbClr val="2D6AA8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209544" y="4407408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已實作</a:t>
            </a:r>
            <a:endParaRPr lang="en-US" sz="1050" dirty="0"/>
          </a:p>
        </p:txBody>
      </p:sp>
      <p:sp>
        <p:nvSpPr>
          <p:cNvPr id="80" name="Shape 78"/>
          <p:cNvSpPr/>
          <p:nvPr/>
        </p:nvSpPr>
        <p:spPr>
          <a:xfrm>
            <a:off x="6016752" y="1069848"/>
            <a:ext cx="2852928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AD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1" name="Shape 79"/>
          <p:cNvSpPr/>
          <p:nvPr/>
        </p:nvSpPr>
        <p:spPr>
          <a:xfrm>
            <a:off x="6016752" y="1069848"/>
            <a:ext cx="2852928" cy="50292"/>
          </a:xfrm>
          <a:prstGeom prst="rect">
            <a:avLst/>
          </a:prstGeom>
          <a:solidFill>
            <a:srgbClr val="3D8A5C"/>
          </a:solidFill>
          <a:ln w="12700">
            <a:solidFill>
              <a:srgbClr val="3D8A5C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126480" y="1161288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D8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Threshold Crossing</a:t>
            </a:r>
            <a:endParaRPr lang="en-US" sz="1400" dirty="0"/>
          </a:p>
        </p:txBody>
      </p:sp>
      <p:sp>
        <p:nvSpPr>
          <p:cNvPr id="83" name="Text 81"/>
          <p:cNvSpPr/>
          <p:nvPr/>
        </p:nvSpPr>
        <p:spPr>
          <a:xfrm>
            <a:off x="6126480" y="1472184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5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補充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6126480" y="1764792"/>
            <a:ext cx="2633472" cy="1901952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172200" y="1764792"/>
            <a:ext cx="161392" cy="90569"/>
          </a:xfrm>
          <a:prstGeom prst="rect">
            <a:avLst/>
          </a:prstGeom>
          <a:solidFill>
            <a:srgbClr val="707088">
              <a:alpha val="80000"/>
            </a:srgbClr>
          </a:solidFill>
          <a:ln w="12700">
            <a:solidFill>
              <a:srgbClr val="707088">
                <a:alpha val="80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172200" y="1855361"/>
            <a:ext cx="286207" cy="90569"/>
          </a:xfrm>
          <a:prstGeom prst="rect">
            <a:avLst/>
          </a:prstGeom>
          <a:solidFill>
            <a:srgbClr val="707088">
              <a:alpha val="80000"/>
            </a:srgbClr>
          </a:solidFill>
          <a:ln w="12700">
            <a:solidFill>
              <a:srgbClr val="707088">
                <a:alpha val="80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172200" y="1945930"/>
            <a:ext cx="411023" cy="90569"/>
          </a:xfrm>
          <a:prstGeom prst="rect">
            <a:avLst/>
          </a:prstGeom>
          <a:solidFill>
            <a:srgbClr val="707088">
              <a:alpha val="80000"/>
            </a:srgbClr>
          </a:solidFill>
          <a:ln w="12700">
            <a:solidFill>
              <a:srgbClr val="707088">
                <a:alpha val="80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172200" y="2036499"/>
            <a:ext cx="585765" cy="90569"/>
          </a:xfrm>
          <a:prstGeom prst="rect">
            <a:avLst/>
          </a:prstGeom>
          <a:solidFill>
            <a:srgbClr val="707088">
              <a:alpha val="80000"/>
            </a:srgbClr>
          </a:solidFill>
          <a:ln w="12700">
            <a:solidFill>
              <a:srgbClr val="707088">
                <a:alpha val="80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172200" y="2127069"/>
            <a:ext cx="835396" cy="90569"/>
          </a:xfrm>
          <a:prstGeom prst="rect">
            <a:avLst/>
          </a:prstGeom>
          <a:solidFill>
            <a:srgbClr val="707088">
              <a:alpha val="80000"/>
            </a:srgbClr>
          </a:solidFill>
          <a:ln w="12700">
            <a:solidFill>
              <a:srgbClr val="707088">
                <a:alpha val="80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172200" y="2217638"/>
            <a:ext cx="1159916" cy="90569"/>
          </a:xfrm>
          <a:prstGeom prst="rect">
            <a:avLst/>
          </a:prstGeom>
          <a:solidFill>
            <a:srgbClr val="707088">
              <a:alpha val="80000"/>
            </a:srgbClr>
          </a:solidFill>
          <a:ln w="12700">
            <a:solidFill>
              <a:srgbClr val="707088">
                <a:alpha val="80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6172200" y="2308207"/>
            <a:ext cx="1409548" cy="90569"/>
          </a:xfrm>
          <a:prstGeom prst="rect">
            <a:avLst/>
          </a:prstGeom>
          <a:solidFill>
            <a:srgbClr val="707088">
              <a:alpha val="80000"/>
            </a:srgbClr>
          </a:solidFill>
          <a:ln w="12700">
            <a:solidFill>
              <a:srgbClr val="707088">
                <a:alpha val="80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172200" y="2398776"/>
            <a:ext cx="1783994" cy="90569"/>
          </a:xfrm>
          <a:prstGeom prst="rect">
            <a:avLst/>
          </a:prstGeom>
          <a:solidFill>
            <a:srgbClr val="707088">
              <a:alpha val="80000"/>
            </a:srgbClr>
          </a:solidFill>
          <a:ln w="12700">
            <a:solidFill>
              <a:srgbClr val="707088">
                <a:alpha val="80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172200" y="2489345"/>
            <a:ext cx="2158441" cy="90569"/>
          </a:xfrm>
          <a:prstGeom prst="rect">
            <a:avLst/>
          </a:prstGeom>
          <a:solidFill>
            <a:srgbClr val="707088">
              <a:alpha val="80000"/>
            </a:srgbClr>
          </a:solidFill>
          <a:ln w="12700">
            <a:solidFill>
              <a:srgbClr val="707088">
                <a:alpha val="80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172200" y="2579914"/>
            <a:ext cx="2408072" cy="90569"/>
          </a:xfrm>
          <a:prstGeom prst="rect">
            <a:avLst/>
          </a:prstGeom>
          <a:solidFill>
            <a:srgbClr val="707088">
              <a:alpha val="80000"/>
            </a:srgbClr>
          </a:solidFill>
          <a:ln w="12700">
            <a:solidFill>
              <a:srgbClr val="707088">
                <a:alpha val="80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172200" y="2670483"/>
            <a:ext cx="2532888" cy="90569"/>
          </a:xfrm>
          <a:prstGeom prst="rect">
            <a:avLst/>
          </a:prstGeom>
          <a:solidFill>
            <a:srgbClr val="707088">
              <a:alpha val="80000"/>
            </a:srgbClr>
          </a:solidFill>
          <a:ln w="12700">
            <a:solidFill>
              <a:srgbClr val="707088">
                <a:alpha val="80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172200" y="2761053"/>
            <a:ext cx="2532888" cy="90569"/>
          </a:xfrm>
          <a:prstGeom prst="rect">
            <a:avLst/>
          </a:prstGeom>
          <a:solidFill>
            <a:srgbClr val="707088">
              <a:alpha val="80000"/>
            </a:srgbClr>
          </a:solidFill>
          <a:ln w="12700">
            <a:solidFill>
              <a:srgbClr val="707088">
                <a:alpha val="80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172200" y="2851622"/>
            <a:ext cx="2408072" cy="90569"/>
          </a:xfrm>
          <a:prstGeom prst="rect">
            <a:avLst/>
          </a:prstGeom>
          <a:solidFill>
            <a:srgbClr val="707088">
              <a:alpha val="80000"/>
            </a:srgbClr>
          </a:solidFill>
          <a:ln w="12700">
            <a:solidFill>
              <a:srgbClr val="707088">
                <a:alpha val="80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172200" y="2942191"/>
            <a:ext cx="2158441" cy="90569"/>
          </a:xfrm>
          <a:prstGeom prst="rect">
            <a:avLst/>
          </a:prstGeom>
          <a:solidFill>
            <a:srgbClr val="707088">
              <a:alpha val="80000"/>
            </a:srgbClr>
          </a:solidFill>
          <a:ln w="12700">
            <a:solidFill>
              <a:srgbClr val="707088">
                <a:alpha val="8000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172200" y="3032760"/>
            <a:ext cx="1734068" cy="90569"/>
          </a:xfrm>
          <a:prstGeom prst="rect">
            <a:avLst/>
          </a:prstGeom>
          <a:solidFill>
            <a:srgbClr val="707088">
              <a:alpha val="80000"/>
            </a:srgbClr>
          </a:solidFill>
          <a:ln w="12700">
            <a:solidFill>
              <a:srgbClr val="707088">
                <a:alpha val="8000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6172200" y="3123329"/>
            <a:ext cx="1284732" cy="90569"/>
          </a:xfrm>
          <a:prstGeom prst="rect">
            <a:avLst/>
          </a:prstGeom>
          <a:solidFill>
            <a:srgbClr val="707088">
              <a:alpha val="80000"/>
            </a:srgbClr>
          </a:solidFill>
          <a:ln w="12700">
            <a:solidFill>
              <a:srgbClr val="707088">
                <a:alpha val="800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6172200" y="3213898"/>
            <a:ext cx="910285" cy="90569"/>
          </a:xfrm>
          <a:prstGeom prst="rect">
            <a:avLst/>
          </a:prstGeom>
          <a:solidFill>
            <a:srgbClr val="707088">
              <a:alpha val="80000"/>
            </a:srgbClr>
          </a:solidFill>
          <a:ln w="12700">
            <a:solidFill>
              <a:srgbClr val="707088">
                <a:alpha val="800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6172200" y="3304467"/>
            <a:ext cx="585765" cy="90569"/>
          </a:xfrm>
          <a:prstGeom prst="rect">
            <a:avLst/>
          </a:prstGeom>
          <a:solidFill>
            <a:srgbClr val="707088">
              <a:alpha val="80000"/>
            </a:srgbClr>
          </a:solidFill>
          <a:ln w="12700">
            <a:solidFill>
              <a:srgbClr val="707088">
                <a:alpha val="8000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6172200" y="3395037"/>
            <a:ext cx="386060" cy="90569"/>
          </a:xfrm>
          <a:prstGeom prst="rect">
            <a:avLst/>
          </a:prstGeom>
          <a:solidFill>
            <a:srgbClr val="707088">
              <a:alpha val="80000"/>
            </a:srgbClr>
          </a:solidFill>
          <a:ln w="12700">
            <a:solidFill>
              <a:srgbClr val="707088">
                <a:alpha val="8000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6172200" y="3485606"/>
            <a:ext cx="236281" cy="90569"/>
          </a:xfrm>
          <a:prstGeom prst="rect">
            <a:avLst/>
          </a:prstGeom>
          <a:solidFill>
            <a:srgbClr val="707088">
              <a:alpha val="80000"/>
            </a:srgbClr>
          </a:solidFill>
          <a:ln w="12700">
            <a:solidFill>
              <a:srgbClr val="707088">
                <a:alpha val="8000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6172200" y="3576175"/>
            <a:ext cx="161392" cy="90569"/>
          </a:xfrm>
          <a:prstGeom prst="rect">
            <a:avLst/>
          </a:prstGeom>
          <a:solidFill>
            <a:srgbClr val="707088">
              <a:alpha val="80000"/>
            </a:srgbClr>
          </a:solidFill>
          <a:ln w="12700">
            <a:solidFill>
              <a:srgbClr val="707088">
                <a:alpha val="8000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6126480" y="2430475"/>
            <a:ext cx="2633472" cy="0"/>
          </a:xfrm>
          <a:prstGeom prst="line">
            <a:avLst/>
          </a:prstGeom>
          <a:noFill/>
          <a:ln w="19050">
            <a:solidFill>
              <a:srgbClr val="3D8A5C"/>
            </a:solidFill>
            <a:prstDash val="dash"/>
          </a:ln>
        </p:spPr>
      </p:sp>
      <p:sp>
        <p:nvSpPr>
          <p:cNvPr id="107" name="Text 105"/>
          <p:cNvSpPr/>
          <p:nvPr/>
        </p:nvSpPr>
        <p:spPr>
          <a:xfrm>
            <a:off x="8412480" y="2265883"/>
            <a:ext cx="301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D8A5C"/>
                </a:solidFill>
              </a:rPr>
              <a:t>50%</a:t>
            </a:r>
            <a:endParaRPr lang="en-US" sz="750" dirty="0"/>
          </a:p>
        </p:txBody>
      </p:sp>
      <p:sp>
        <p:nvSpPr>
          <p:cNvPr id="108" name="Shape 106"/>
          <p:cNvSpPr/>
          <p:nvPr/>
        </p:nvSpPr>
        <p:spPr>
          <a:xfrm>
            <a:off x="6705844" y="2339035"/>
            <a:ext cx="164592" cy="164592"/>
          </a:xfrm>
          <a:prstGeom prst="ellipse">
            <a:avLst/>
          </a:prstGeom>
          <a:solidFill>
            <a:srgbClr val="3D8A5C"/>
          </a:solidFill>
          <a:ln w="12700">
            <a:solidFill>
              <a:srgbClr val="3D8A5C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7969910" y="2339035"/>
            <a:ext cx="164592" cy="164592"/>
          </a:xfrm>
          <a:prstGeom prst="ellipse">
            <a:avLst/>
          </a:prstGeom>
          <a:solidFill>
            <a:srgbClr val="3D8A5C"/>
          </a:solidFill>
          <a:ln w="12700">
            <a:solidFill>
              <a:srgbClr val="3D8A5C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6126480" y="3767328"/>
            <a:ext cx="2633472" cy="548640"/>
          </a:xfrm>
          <a:prstGeom prst="rect">
            <a:avLst/>
          </a:prstGeom>
          <a:solidFill>
            <a:srgbClr val="D0EAD9"/>
          </a:solidFill>
          <a:ln w="12700">
            <a:solidFill>
              <a:srgbClr val="D0EAD9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6126480" y="3785616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8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 = 48.6</a:t>
            </a:r>
            <a:endParaRPr lang="en-US" sz="2000" dirty="0"/>
          </a:p>
        </p:txBody>
      </p:sp>
      <p:sp>
        <p:nvSpPr>
          <p:cNvPr id="112" name="Text 110"/>
          <p:cNvSpPr/>
          <p:nvPr/>
        </p:nvSpPr>
        <p:spPr>
          <a:xfrm>
            <a:off x="6126480" y="4069080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8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次像素，業界標準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6126480" y="4407408"/>
            <a:ext cx="2633472" cy="365760"/>
          </a:xfrm>
          <a:prstGeom prst="rect">
            <a:avLst/>
          </a:prstGeom>
          <a:solidFill>
            <a:srgbClr val="3D8A5C"/>
          </a:solidFill>
          <a:ln w="12700">
            <a:solidFill>
              <a:srgbClr val="3D8A5C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6126480" y="4407408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已實作</a:t>
            </a:r>
            <a:endParaRPr lang="en-US" sz="1050" dirty="0"/>
          </a:p>
        </p:txBody>
      </p:sp>
      <p:sp>
        <p:nvSpPr>
          <p:cNvPr id="115" name="Text 113"/>
          <p:cNvSpPr/>
          <p:nvPr/>
        </p:nvSpPr>
        <p:spPr>
          <a:xfrm>
            <a:off x="8796528" y="486918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8A3D7A"/>
          </a:solidFill>
          <a:ln w="12700">
            <a:solidFill>
              <a:srgbClr val="8A3D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109728"/>
            <a:ext cx="694944" cy="256032"/>
          </a:xfrm>
          <a:prstGeom prst="rect">
            <a:avLst/>
          </a:prstGeom>
          <a:solidFill>
            <a:srgbClr val="8A3D7A"/>
          </a:solidFill>
          <a:ln w="12700">
            <a:solidFill>
              <a:srgbClr val="8A3D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109728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04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987552" y="914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8A3D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Deliver &amp; Verify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82880" y="438912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5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量得準只是開始——結果要能真正送進 Review SEM 驗證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82880" y="713232"/>
            <a:ext cx="8778240" cy="0"/>
          </a:xfrm>
          <a:prstGeom prst="line">
            <a:avLst/>
          </a:prstGeom>
          <a:noFill/>
          <a:ln w="19050">
            <a:solidFill>
              <a:srgbClr val="EDE8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" y="786384"/>
            <a:ext cx="8778240" cy="347472"/>
          </a:xfrm>
          <a:prstGeom prst="rect">
            <a:avLst/>
          </a:prstGeom>
          <a:solidFill>
            <a:srgbClr val="F0D0EC"/>
          </a:solidFill>
          <a:ln w="12700">
            <a:solidFill>
              <a:srgbClr val="F0D0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786384"/>
            <a:ext cx="8558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8A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難點：影像座標系 Y 向下 vs KLARF 座標系 Y 向上 — 座標補正公式裡是「減」不是「加」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82880" y="12252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3D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Export Pipeline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0060" y="1508760"/>
            <a:ext cx="1417320" cy="713232"/>
          </a:xfrm>
          <a:prstGeom prst="rect">
            <a:avLst/>
          </a:prstGeom>
          <a:solidFill>
            <a:srgbClr val="F0D0EC"/>
          </a:solidFill>
          <a:ln w="19050">
            <a:solidFill>
              <a:srgbClr val="8A3D7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0060" y="1508760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A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8A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KLARF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897380" y="169164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5A48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171700" y="1508760"/>
            <a:ext cx="1417320" cy="713232"/>
          </a:xfrm>
          <a:prstGeom prst="rect">
            <a:avLst/>
          </a:prstGeom>
          <a:solidFill>
            <a:srgbClr val="8A3D7A"/>
          </a:solidFill>
          <a:ln w="19050">
            <a:solidFill>
              <a:srgbClr val="8A3D7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171700" y="1508760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MM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589020" y="169164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5A48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863340" y="1508760"/>
            <a:ext cx="1417320" cy="713232"/>
          </a:xfrm>
          <a:prstGeom prst="rect">
            <a:avLst/>
          </a:prstGeom>
          <a:solidFill>
            <a:srgbClr val="8A3D7A"/>
          </a:solidFill>
          <a:ln w="19050">
            <a:solidFill>
              <a:srgbClr val="8A3D7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863340" y="1508760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&amp;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280660" y="169164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5A48"/>
                </a:solidFill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554980" y="1508760"/>
            <a:ext cx="1417320" cy="713232"/>
          </a:xfrm>
          <a:prstGeom prst="rect">
            <a:avLst/>
          </a:prstGeom>
          <a:solidFill>
            <a:srgbClr val="B84A3A"/>
          </a:solidFill>
          <a:ln w="19050">
            <a:solidFill>
              <a:srgbClr val="B84A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554980" y="1508760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座標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換算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972300" y="169164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5A48"/>
                </a:solidFill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246620" y="1508760"/>
            <a:ext cx="1417320" cy="713232"/>
          </a:xfrm>
          <a:prstGeom prst="rect">
            <a:avLst/>
          </a:prstGeom>
          <a:solidFill>
            <a:srgbClr val="3D8A5C"/>
          </a:solidFill>
          <a:ln w="19050">
            <a:solidFill>
              <a:srgbClr val="3D8A5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246620" y="1508760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KLARF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82880" y="2395728"/>
            <a:ext cx="8778240" cy="0"/>
          </a:xfrm>
          <a:prstGeom prst="line">
            <a:avLst/>
          </a:prstGeom>
          <a:noFill/>
          <a:ln w="12700">
            <a:solidFill>
              <a:srgbClr val="EDE8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2880" y="24688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2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技術難點：Y 軸方向相反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82880" y="2697480"/>
            <a:ext cx="3200400" cy="1965960"/>
          </a:xfrm>
          <a:prstGeom prst="rect">
            <a:avLst/>
          </a:prstGeom>
          <a:solidFill>
            <a:srgbClr val="1A1A2E"/>
          </a:solidFill>
          <a:ln w="12700">
            <a:solidFill>
              <a:srgbClr val="36363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7472" y="2834640"/>
            <a:ext cx="118872" cy="118872"/>
          </a:xfrm>
          <a:prstGeom prst="ellipse">
            <a:avLst/>
          </a:prstGeom>
          <a:solidFill>
            <a:srgbClr val="FF9999"/>
          </a:solidFill>
          <a:ln w="12700">
            <a:solidFill>
              <a:srgbClr val="FF99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" y="280720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9999"/>
                </a:solidFill>
              </a:rPr>
              <a:t>(0,0)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06908" y="2894076"/>
            <a:ext cx="2880360" cy="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44368" y="274320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X →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06908" y="2894076"/>
            <a:ext cx="0" cy="1632204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7472" y="4407408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9999"/>
                </a:solidFill>
              </a:rPr>
              <a:t>Y ↓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74320" y="358216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影像座標系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82880" y="470001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5A48"/>
                </a:solidFill>
              </a:rPr>
              <a:t>原點在左上角  ·  Y 向下增加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493008" y="3017520"/>
            <a:ext cx="10607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84A3A"/>
                </a:solidFill>
              </a:rPr>
              <a:t>≠</a:t>
            </a:r>
            <a:endParaRPr lang="en-US" sz="3000" dirty="0"/>
          </a:p>
        </p:txBody>
      </p:sp>
      <p:sp>
        <p:nvSpPr>
          <p:cNvPr id="37" name="Shape 35"/>
          <p:cNvSpPr/>
          <p:nvPr/>
        </p:nvSpPr>
        <p:spPr>
          <a:xfrm>
            <a:off x="3493008" y="3657600"/>
            <a:ext cx="1060704" cy="1234440"/>
          </a:xfrm>
          <a:prstGeom prst="rect">
            <a:avLst/>
          </a:prstGeom>
          <a:solidFill>
            <a:srgbClr val="F0D0EC"/>
          </a:solidFill>
          <a:ln w="25400">
            <a:solidFill>
              <a:srgbClr val="8A3D7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3511296" y="3685032"/>
            <a:ext cx="10241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3D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YREL_new =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8A3D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YREL_orig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8A3D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 dy_nm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511296" y="4489704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8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軸相反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B8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用「減」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663440" y="2697480"/>
            <a:ext cx="3200400" cy="1965960"/>
          </a:xfrm>
          <a:prstGeom prst="rect">
            <a:avLst/>
          </a:prstGeom>
          <a:solidFill>
            <a:srgbClr val="1A2E1A"/>
          </a:solidFill>
          <a:ln w="12700">
            <a:solidFill>
              <a:srgbClr val="36363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28032" y="4434840"/>
            <a:ext cx="118872" cy="118872"/>
          </a:xfrm>
          <a:prstGeom prst="ellipse">
            <a:avLst/>
          </a:prstGeom>
          <a:solidFill>
            <a:srgbClr val="99FF99"/>
          </a:solidFill>
          <a:ln w="12700">
            <a:solidFill>
              <a:srgbClr val="99FF9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65192" y="440740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FF99"/>
                </a:solidFill>
              </a:rPr>
              <a:t>Die Corner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4887468" y="4494276"/>
            <a:ext cx="2880360" cy="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24928" y="434340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X →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887468" y="2807208"/>
            <a:ext cx="0" cy="1687068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28032" y="2752344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9FF99"/>
                </a:solidFill>
              </a:rPr>
              <a:t>↑ Y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754880" y="358216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KLARF 座標系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663440" y="470001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5A48"/>
                </a:solidFill>
              </a:rPr>
              <a:t>原點在 die 左下角  ·  Y 向上增加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8796528" y="486918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97D2A"/>
          </a:solidFill>
          <a:ln w="12700">
            <a:solidFill>
              <a:srgbClr val="C97D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91440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18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與 AI 協作帶來的知識增長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82880" y="438912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5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不只是「用 AI 生產」，而是透過 AI 獲得真正的知識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82880" y="713232"/>
            <a:ext cx="8778240" cy="0"/>
          </a:xfrm>
          <a:prstGeom prst="line">
            <a:avLst/>
          </a:prstGeom>
          <a:noFill/>
          <a:ln w="19050">
            <a:solidFill>
              <a:srgbClr val="EDE8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822960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18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影像前處理：CLAHE 為什麼比全域 HE 好？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82880" y="1152144"/>
            <a:ext cx="4206240" cy="1078992"/>
          </a:xfrm>
          <a:prstGeom prst="rect">
            <a:avLst/>
          </a:prstGeom>
          <a:solidFill>
            <a:srgbClr val="FAE0DC"/>
          </a:solidFill>
          <a:ln w="9525">
            <a:solidFill>
              <a:srgbClr val="D0B0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124358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4A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全域 HE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92608" y="155448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8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整張影像一起均衡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B8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亮區過曝，MG 邊緣被「吃掉」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82880" y="2359152"/>
            <a:ext cx="4206240" cy="1078992"/>
          </a:xfrm>
          <a:prstGeom prst="rect">
            <a:avLst/>
          </a:prstGeom>
          <a:solidFill>
            <a:srgbClr val="D0EAD9"/>
          </a:solidFill>
          <a:ln w="9525">
            <a:solidFill>
              <a:srgbClr val="A0C8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" y="245059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D8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CLAHE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92608" y="276148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D8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分成小 tile 各自均衡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D8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clip limit 防過爆 → 保留局部對比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82880" y="3611880"/>
            <a:ext cx="4206240" cy="621792"/>
          </a:xfrm>
          <a:prstGeom prst="rect">
            <a:avLst/>
          </a:prstGeom>
          <a:solidFill>
            <a:srgbClr val="FEF6EA"/>
          </a:solidFill>
          <a:ln w="12700">
            <a:solidFill>
              <a:srgbClr val="FDE8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08" y="3611880"/>
            <a:ext cx="3977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7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拍攝時電子束局部強度不均 → 全域 HE 亮區過曝 → CD 偏差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97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理解 CLAHE 原理後，我才知道 tile 大小和 clip limit 怎麼調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54880" y="822960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18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演算法優化：Loop → Numpy 向量化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54880" y="111556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13,000 張影像批次處理時間比較</a:t>
            </a:r>
            <a:endParaRPr lang="en-US" sz="9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4663440" y="1325880"/>
          <a:ext cx="425196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Shape 15"/>
          <p:cNvSpPr/>
          <p:nvPr/>
        </p:nvSpPr>
        <p:spPr>
          <a:xfrm>
            <a:off x="4754880" y="3730752"/>
            <a:ext cx="4160520" cy="530352"/>
          </a:xfrm>
          <a:prstGeom prst="rect">
            <a:avLst/>
          </a:prstGeom>
          <a:solidFill>
            <a:srgbClr val="D0EAD9"/>
          </a:solidFill>
          <a:ln w="9525">
            <a:solidFill>
              <a:srgbClr val="3D8A5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64608" y="3730752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D8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約 6× 加速（25 分鐘 → 4 分鐘）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D8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「不只是快一點——是從不可用到可用的差距」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526280" y="822960"/>
            <a:ext cx="0" cy="3566160"/>
          </a:xfrm>
          <a:prstGeom prst="line">
            <a:avLst/>
          </a:prstGeom>
          <a:noFill/>
          <a:ln w="12700">
            <a:solidFill>
              <a:srgbClr val="EDE8E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796528" y="486918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5A4838"/>
          </a:solidFill>
          <a:ln w="12700">
            <a:solidFill>
              <a:srgbClr val="5A48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91440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18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其他優化與迭代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82880" y="438912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5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四大面向之外，每一項都來自實際使用遇到的問題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82880" y="713232"/>
            <a:ext cx="8778240" cy="0"/>
          </a:xfrm>
          <a:prstGeom prst="line">
            <a:avLst/>
          </a:prstGeom>
          <a:noFill/>
          <a:ln w="19050">
            <a:solidFill>
              <a:srgbClr val="EDE8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960120"/>
            <a:ext cx="276148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8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960120"/>
            <a:ext cx="54864" cy="1691640"/>
          </a:xfrm>
          <a:prstGeom prst="rect">
            <a:avLst/>
          </a:prstGeom>
          <a:solidFill>
            <a:srgbClr val="C97D2A"/>
          </a:solidFill>
          <a:ln w="12700">
            <a:solidFill>
              <a:srgbClr val="C97D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8813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77240" y="1069848"/>
            <a:ext cx="204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18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Batch 多核心加速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1435608"/>
            <a:ext cx="25603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ProcessPoolExecutor 平行，1000+ 張縮短至分鐘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3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進度條即時更新，批次容錯（單筆 FAIL 不中止整批）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145536" y="960120"/>
            <a:ext cx="276148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8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45536" y="960120"/>
            <a:ext cx="54864" cy="1691640"/>
          </a:xfrm>
          <a:prstGeom prst="rect">
            <a:avLst/>
          </a:prstGeom>
          <a:solidFill>
            <a:srgbClr val="C97D2A"/>
          </a:solidFill>
          <a:ln w="12700">
            <a:solidFill>
              <a:srgbClr val="C97D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82696" y="108813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🗄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739896" y="1069848"/>
            <a:ext cx="204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18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SQLite 結果持久化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82696" y="1435608"/>
            <a:ext cx="25603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D：批次結果跨 Session 儲存至 ~/.mmh/runs.db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3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支援歷史趨勢 Run Chart，Load 舊批次重比較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108192" y="960120"/>
            <a:ext cx="276148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8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08192" y="960120"/>
            <a:ext cx="54864" cy="1691640"/>
          </a:xfrm>
          <a:prstGeom prst="rect">
            <a:avLst/>
          </a:prstGeom>
          <a:solidFill>
            <a:srgbClr val="C97D2A"/>
          </a:solidFill>
          <a:ln w="12700">
            <a:solidFill>
              <a:srgbClr val="C97D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45352" y="108813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702552" y="1069848"/>
            <a:ext cx="204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18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多格式輸出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45352" y="1435608"/>
            <a:ext cx="25603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/ Excel（統計+紅藍標色）/ JSON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3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報告 / 標注影像 PNG 批次匯出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82880" y="2816352"/>
            <a:ext cx="276148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8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82880" y="2816352"/>
            <a:ext cx="54864" cy="1691640"/>
          </a:xfrm>
          <a:prstGeom prst="rect">
            <a:avLst/>
          </a:prstGeom>
          <a:solidFill>
            <a:srgbClr val="C97D2A"/>
          </a:solidFill>
          <a:ln w="12700">
            <a:solidFill>
              <a:srgbClr val="C97D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29443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🔧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77240" y="2926080"/>
            <a:ext cx="204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18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KLARF Export Pipeline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0040" y="3291840"/>
            <a:ext cx="25603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Top-N defect 篩選 + 座標補正 + 影像 Overlay 預覽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3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原始 / 新座標黃色箭頭視覺化確認補正結果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145536" y="2816352"/>
            <a:ext cx="276148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8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145536" y="2816352"/>
            <a:ext cx="54864" cy="1691640"/>
          </a:xfrm>
          <a:prstGeom prst="rect">
            <a:avLst/>
          </a:prstGeom>
          <a:solidFill>
            <a:srgbClr val="C97D2A"/>
          </a:solidFill>
          <a:ln w="12700">
            <a:solidFill>
              <a:srgbClr val="C97D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82696" y="29443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🐛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3739896" y="2926080"/>
            <a:ext cx="204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18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輪 Bug Review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282696" y="3291840"/>
            <a:ext cx="25603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問題分 Critical / Middle / Minor 分級修復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3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涵蓋演算法精度、記憶體洩漏、NumPy 2.0 相容性等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108192" y="2816352"/>
            <a:ext cx="276148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8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08192" y="2816352"/>
            <a:ext cx="54864" cy="1691640"/>
          </a:xfrm>
          <a:prstGeom prst="rect">
            <a:avLst/>
          </a:prstGeom>
          <a:solidFill>
            <a:srgbClr val="C97D2A"/>
          </a:solidFill>
          <a:ln w="12700">
            <a:solidFill>
              <a:srgbClr val="C97D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45352" y="29443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702552" y="2926080"/>
            <a:ext cx="204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18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77+ 自動化測試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45352" y="3291840"/>
            <a:ext cx="25603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覆蓋核心演算法、資料模型、批次存儲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3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驗證模式（Golden Sample + Bias / 3σ 統計）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8796528" y="486918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8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2E2419"/>
          </a:solidFill>
          <a:ln w="12700">
            <a:solidFill>
              <a:srgbClr val="2E241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2E2419"/>
          </a:solidFill>
          <a:ln w="12700">
            <a:solidFill>
              <a:srgbClr val="2E241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29F4B"/>
          </a:solidFill>
          <a:ln w="12700">
            <a:solidFill>
              <a:srgbClr val="F29F4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164592"/>
            <a:ext cx="8631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DE8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不是 AI 做了這個工具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56032" y="786384"/>
            <a:ext cx="8631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29F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是我用 AI 做了這個工具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56032" y="1737360"/>
            <a:ext cx="8631936" cy="0"/>
          </a:xfrm>
          <a:prstGeom prst="line">
            <a:avLst/>
          </a:prstGeom>
          <a:noFill/>
          <a:ln w="12700">
            <a:solidFill>
              <a:srgbClr val="5A483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1883664"/>
            <a:ext cx="1005840" cy="548640"/>
          </a:xfrm>
          <a:prstGeom prst="rect">
            <a:avLst/>
          </a:prstGeom>
          <a:solidFill>
            <a:srgbClr val="C97D2A"/>
          </a:solidFill>
          <a:ln w="12700">
            <a:solidFill>
              <a:srgbClr val="C97D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1883664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製程知識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71600" y="1975104"/>
            <a:ext cx="7452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D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讓我知道「要量什麼、量法對不對」 — 這是 AI 無法替代的部分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56032" y="2569464"/>
            <a:ext cx="1005840" cy="548640"/>
          </a:xfrm>
          <a:prstGeom prst="rect">
            <a:avLst/>
          </a:prstGeom>
          <a:solidFill>
            <a:srgbClr val="C97D2A"/>
          </a:solidFill>
          <a:ln w="12700">
            <a:solidFill>
              <a:srgbClr val="C97D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2569464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知識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371600" y="2660904"/>
            <a:ext cx="7452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D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讓我知道「有哪些方法、哪種更好」 — 把我的選項從 1 擴展到 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56032" y="3255264"/>
            <a:ext cx="1005840" cy="548640"/>
          </a:xfrm>
          <a:prstGeom prst="rect">
            <a:avLst/>
          </a:prstGeom>
          <a:solidFill>
            <a:srgbClr val="C97D2A"/>
          </a:solidFill>
          <a:ln w="12700">
            <a:solidFill>
              <a:srgbClr val="C97D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3255264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持續迭代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371600" y="3346704"/>
            <a:ext cx="7452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D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讓工具從「能跑」到「真正可用」 — 20 Sessions，每次都更好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56032" y="3931920"/>
            <a:ext cx="2057400" cy="201168"/>
          </a:xfrm>
          <a:prstGeom prst="rect">
            <a:avLst/>
          </a:prstGeom>
          <a:solidFill>
            <a:srgbClr val="C97D2A"/>
          </a:solidFill>
          <a:ln w="12700">
            <a:solidFill>
              <a:srgbClr val="C97D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" y="393192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Describe &amp; Design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478024" y="3931920"/>
            <a:ext cx="2057400" cy="201168"/>
          </a:xfrm>
          <a:prstGeom prst="rect">
            <a:avLst/>
          </a:prstGeom>
          <a:solidFill>
            <a:srgbClr val="2D6AA8"/>
          </a:solidFill>
          <a:ln w="12700">
            <a:solidFill>
              <a:srgbClr val="2D6A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78024" y="393192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Detect &amp; Separate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700016" y="3931920"/>
            <a:ext cx="2057400" cy="201168"/>
          </a:xfrm>
          <a:prstGeom prst="rect">
            <a:avLst/>
          </a:prstGeom>
          <a:solidFill>
            <a:srgbClr val="3D8A5C"/>
          </a:solidFill>
          <a:ln w="12700">
            <a:solidFill>
              <a:srgbClr val="3D8A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0016" y="393192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Define &amp; Calibrate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922008" y="3931920"/>
            <a:ext cx="2057400" cy="201168"/>
          </a:xfrm>
          <a:prstGeom prst="rect">
            <a:avLst/>
          </a:prstGeom>
          <a:solidFill>
            <a:srgbClr val="8A3D7A"/>
          </a:solidFill>
          <a:ln w="12700">
            <a:solidFill>
              <a:srgbClr val="8A3D7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22008" y="393192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Deliver &amp; Verify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56032" y="4297680"/>
            <a:ext cx="8631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天  ·  20 Sessions  ·  77+ Tests  ·  0 行自己寫  ·  SEM MM  2026.04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 MM — AI × 半導體製程工程師 × 11 天</dc:title>
  <dc:subject>PptxGenJS Presentation</dc:subject>
  <dc:creator>PptxGenJS</dc:creator>
  <cp:lastModifiedBy>PptxGenJS</cp:lastModifiedBy>
  <cp:revision>1</cp:revision>
  <dcterms:created xsi:type="dcterms:W3CDTF">2026-04-27T17:49:56Z</dcterms:created>
  <dcterms:modified xsi:type="dcterms:W3CDTF">2026-04-27T17:49:56Z</dcterms:modified>
</cp:coreProperties>
</file>